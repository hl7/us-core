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6"/>
    <p:sldMasterId id="2147483667" r:id="rId7"/>
    <p:sldMasterId id="2147483679" r:id="rId8"/>
    <p:sldMasterId id="2147483689" r:id="rId9"/>
    <p:sldMasterId id="2147483759" r:id="rId10"/>
  </p:sldMasterIdLst>
  <p:notesMasterIdLst>
    <p:notesMasterId r:id="rId24"/>
  </p:notesMasterIdLst>
  <p:handoutMasterIdLst>
    <p:handoutMasterId r:id="rId25"/>
  </p:handoutMasterIdLst>
  <p:sldIdLst>
    <p:sldId id="587" r:id="rId11"/>
    <p:sldId id="588" r:id="rId12"/>
    <p:sldId id="589" r:id="rId13"/>
    <p:sldId id="590" r:id="rId14"/>
    <p:sldId id="591" r:id="rId15"/>
    <p:sldId id="597" r:id="rId16"/>
    <p:sldId id="598" r:id="rId17"/>
    <p:sldId id="592" r:id="rId18"/>
    <p:sldId id="593" r:id="rId19"/>
    <p:sldId id="594" r:id="rId20"/>
    <p:sldId id="596" r:id="rId21"/>
    <p:sldId id="278" r:id="rId22"/>
    <p:sldId id="279" r:id="rId23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292929"/>
    <a:srgbClr val="333333"/>
    <a:srgbClr val="1C1C1C"/>
    <a:srgbClr val="595959"/>
    <a:srgbClr val="5B9BD5"/>
    <a:srgbClr val="62B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7" autoAdjust="0"/>
    <p:restoredTop sz="95238" autoAdjust="0"/>
  </p:normalViewPr>
  <p:slideViewPr>
    <p:cSldViewPr>
      <p:cViewPr varScale="1">
        <p:scale>
          <a:sx n="122" d="100"/>
          <a:sy n="122" d="100"/>
        </p:scale>
        <p:origin x="116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3234" y="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4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5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602EA2E-9764-4F9B-9B16-190FD6E597D8}" type="datetimeFigureOut">
              <a:rPr lang="en-US"/>
              <a:pPr>
                <a:defRPr/>
              </a:pPr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772525"/>
            <a:ext cx="3038475" cy="4619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E82AD5F-AFEB-438E-8AE9-7CC5D40F5B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996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0D324C3-52A7-48F2-9722-E1EAB58D1582}" type="datetimeFigureOut">
              <a:rPr lang="en-US"/>
              <a:pPr>
                <a:defRPr/>
              </a:pPr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387850"/>
            <a:ext cx="5607050" cy="4156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38475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772525"/>
            <a:ext cx="3038475" cy="4619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DF0727-C29F-443B-8DEA-6BD46FF360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7495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 </a:t>
            </a:r>
            <a:r>
              <a:rPr lang="en-US" dirty="0" err="1"/>
              <a:t>Redistriibution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F0727-C29F-443B-8DEA-6BD46FF360E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2647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01C1-8518-DDC0-1D25-7B7DD1705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32B32-2A70-6B50-1FBC-0760B3C19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E7832-B2D8-BFF2-FFC5-47DCCE838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 Transformation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A09C-881C-44BC-1B64-C6FB371E7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DF0727-C29F-443B-8DEA-6BD46FF360E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833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Ask Affinity group if worth splitting out.</a:t>
            </a:r>
          </a:p>
          <a:p>
            <a:pPr marL="158750" indent="0">
              <a:buNone/>
            </a:pPr>
            <a:r>
              <a:rPr lang="en-US" dirty="0"/>
              <a:t>Consider</a:t>
            </a:r>
          </a:p>
          <a:p>
            <a:pPr marL="158750" indent="0">
              <a:buNone/>
            </a:pPr>
            <a:r>
              <a:rPr lang="en-US" dirty="0"/>
              <a:t> *3a – Change translations, code systems, automated deduplication.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 *3b – ‘Data enrichment’ – Care gaps, potential manual deduplication. </a:t>
            </a:r>
          </a:p>
        </p:txBody>
      </p:sp>
    </p:spTree>
    <p:extLst>
      <p:ext uri="{BB962C8B-B14F-4D97-AF65-F5344CB8AC3E}">
        <p14:creationId xmlns:p14="http://schemas.microsoft.com/office/powerpoint/2010/main" val="3478289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EF9E-EC8D-4F04-BED8-0B0F5A1B3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12DCDA-644E-4C8E-899B-BE90D2E4F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0D74-10E0-43D5-9527-163550C4A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88CA2-49E0-4800-BD4D-A6B6A2DF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46AF2-89EF-484B-ADCC-629224931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2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F912-AEA3-45CE-A23B-A03E58D3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B2DD4-080B-43D2-AA2B-FD2BB2A10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0782C-83A0-48E5-BA81-9BA453F8F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03395-AD13-4120-8073-4C438196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CE157-0BC6-451E-8D27-EBF8333B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0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A98B-A1E1-49E3-8E1C-E5044DEB0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19859-1C70-4E80-8D6C-0AD2A3652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0D3CC-0B0A-46C1-B13F-110A6C2D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E936D-9BD0-4773-95FD-028FC196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829-B57D-4F0C-9DEF-A9A276B3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2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58F99-441C-4BAD-802B-1A76634ED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44890-E85E-4D9C-9DEE-8977D79B4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761A6-0182-4F9D-9283-A2E39E65F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3BF22-884C-491D-A6E5-BB7E8F783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E1450-5647-40AE-BA24-4B016A52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CD4E4-ED94-4CBD-A565-32C0914E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3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159F-1E6A-4657-B63E-B026AD3E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F18A6-B3FC-4872-8C17-BBBD4DFC5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A4B5D-F600-4A9D-9949-F29DED2EF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CE52A-E1E8-47E1-9F5A-9BD906E157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E78835-3EFE-4D8D-A2A4-F1E9AAD1A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FB5C7-CEE7-463D-BF97-1929F6526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E4CB96-7570-48E1-8A10-A9671999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E0204-4BB8-41B1-AD0F-E44F4376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00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C6D3-C0CD-4A89-BE48-366D8577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E37CC-61FD-4A43-A3AD-773CD5B5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E9EE5-C255-4C7A-9CA7-BB58891B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4CC4-B852-4309-9FC8-6FAD997E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21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36147-D328-449F-872B-B4E3C2C61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19BEF-3962-4434-826A-9260E777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71E6D-AD3D-4618-ADBD-CD4AE1CE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5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A7FE-EE2D-44D7-8850-33F044DA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53709-D46B-4C12-9C46-06DB717E1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46D39-DA70-4E80-A58F-E7AB2FDC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1103-22B3-4ED7-AF09-3C0B6F25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3FAB5-F3E8-435D-B0B7-AF3D72467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7CD37-E612-4520-8856-AF886BC9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00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AD1EF-36B8-4E3C-8A45-7C4F9603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0C236-B5A1-4783-9060-1A07A764F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9FD67-B292-46E3-B312-19B10EA8E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57B83-1CFE-464B-8547-DAAAFBE2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F37C3-096D-4D92-94B4-5A6E01DB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820E7-2428-4B4A-8441-8453942B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4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E4FC-357F-4FF8-BCAB-EFB506BE7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1808CE-310E-457B-AC39-633C8E28E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C7170-D38B-4DF2-BC70-ED21A3BF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3159A-1859-4640-B04F-00E674118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AEBBD-CF0C-4502-BAE0-286BF927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0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7F660-C2D7-4AFC-8C40-8BC8EEEDF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12EBE-30ED-4D5B-A6F2-F15D099C2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8CBF0-BDCF-46C2-9A49-8751BEFDC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14368-787C-4832-B815-4A5272CA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4C1BA-D0F1-4CF0-B465-34E693FD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50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3D322-53BD-4013-88A7-20B6827E2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9B3C6-0B96-451A-95DD-E2A04BCC1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3270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auto"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F3D03D-AFED-4261-B312-8B7BF185A9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7482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/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92532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auto"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F3D03D-AFED-4261-B312-8B7BF185A9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30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D150-769D-4285-B158-B10BA758F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3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EFE83-0981-46D1-A67C-66BA25A38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90308-353A-43E9-A465-5C8E8FF92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2B7B0-8DB3-449F-851A-D9D1F7DC1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C1F7D-7B42-4B09-AD4C-A9C42D758B9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57B9-72C0-4E52-815F-C0E68CBCC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83B18-0BF4-46FC-A27B-D5D03B8DE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3D2A8-365D-4444-BB55-66BFBC068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6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http://ts4.mm.bing.net/th?id=H.4551665482530847&amp;pid=1.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VA color sea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400" y="0"/>
            <a:ext cx="2362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685800" y="2873375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1371600" y="44196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32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ＭＳ Ｐゴシック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94463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ea typeface="MS PGothic" panose="020B0600070205080204" pitchFamily="34" charset="-128"/>
              </a:defRPr>
            </a:lvl1pPr>
          </a:lstStyle>
          <a:p>
            <a:fld id="{A126F656-6847-4487-92CC-FD6056179612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053" name="Picture 5" descr="http://ts4.mm.bing.net/th?id=H.4551665482530847&amp;pid=1.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3" descr="VA color se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5" name="Group 42"/>
          <p:cNvGrpSpPr>
            <a:grpSpLocks/>
          </p:cNvGrpSpPr>
          <p:nvPr/>
        </p:nvGrpSpPr>
        <p:grpSpPr bwMode="auto">
          <a:xfrm>
            <a:off x="0" y="914400"/>
            <a:ext cx="9144000" cy="46038"/>
            <a:chOff x="336" y="2592"/>
            <a:chExt cx="5040" cy="144"/>
          </a:xfrm>
        </p:grpSpPr>
        <p:sp>
          <p:nvSpPr>
            <p:cNvPr id="2" name="Rectangle 39"/>
            <p:cNvSpPr>
              <a:spLocks noChangeArrowheads="1"/>
            </p:cNvSpPr>
            <p:nvPr userDrawn="1"/>
          </p:nvSpPr>
          <p:spPr bwMode="auto">
            <a:xfrm>
              <a:off x="336" y="2592"/>
              <a:ext cx="1680" cy="144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defRPr/>
              </a:pPr>
              <a:endPara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2059" name="Rectangle 40"/>
            <p:cNvSpPr>
              <a:spLocks noChangeArrowheads="1"/>
            </p:cNvSpPr>
            <p:nvPr userDrawn="1"/>
          </p:nvSpPr>
          <p:spPr bwMode="auto">
            <a:xfrm>
              <a:off x="2016" y="2592"/>
              <a:ext cx="1680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defRPr/>
              </a:pPr>
              <a:endPara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2060" name="Rectangle 41"/>
            <p:cNvSpPr>
              <a:spLocks noChangeArrowheads="1"/>
            </p:cNvSpPr>
            <p:nvPr userDrawn="1"/>
          </p:nvSpPr>
          <p:spPr bwMode="auto">
            <a:xfrm>
              <a:off x="3696" y="2592"/>
              <a:ext cx="1680" cy="144"/>
            </a:xfrm>
            <a:prstGeom prst="rect">
              <a:avLst/>
            </a:prstGeom>
            <a:solidFill>
              <a:srgbClr val="0000C4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defRPr/>
              </a:pPr>
              <a:endPara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  <a:cs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62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MS PGothic" panose="020B0600070205080204" pitchFamily="34" charset="-128"/>
          <a:cs typeface="Times New Roman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685800" y="2873375"/>
            <a:ext cx="7772400" cy="1470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1371600" y="44196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32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Date Placeholder 3"/>
          <p:cNvSpPr txBox="1">
            <a:spLocks/>
          </p:cNvSpPr>
          <p:nvPr userDrawn="1"/>
        </p:nvSpPr>
        <p:spPr bwMode="auto">
          <a:xfrm>
            <a:off x="228600" y="6457950"/>
            <a:ext cx="21336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6pPr>
            <a:lvl7pPr marL="29718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7pPr>
            <a:lvl8pPr marL="34290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8pPr>
            <a:lvl9pPr marL="38862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 dirty="0">
                <a:solidFill>
                  <a:srgbClr val="898989"/>
                </a:solidFill>
              </a:rPr>
              <a:t>JET: Mobile Security and Transport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 dirty="0">
                <a:solidFill>
                  <a:srgbClr val="898989"/>
                </a:solidFill>
              </a:rPr>
              <a:t>January 2016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  <a:cs typeface="ＭＳ Ｐゴシック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9446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ea typeface="MS PGothic" panose="020B0600070205080204" pitchFamily="34" charset="-128"/>
              </a:defRPr>
            </a:lvl1pPr>
          </a:lstStyle>
          <a:p>
            <a:fld id="{A126F656-6847-4487-92CC-FD6056179612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053" name="Picture 5" descr="http://ts4.mm.bing.net/th?id=H.4551665482530847&amp;pid=1.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3" descr="VA color se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5" name="Group 42"/>
          <p:cNvGrpSpPr>
            <a:grpSpLocks/>
          </p:cNvGrpSpPr>
          <p:nvPr/>
        </p:nvGrpSpPr>
        <p:grpSpPr bwMode="auto">
          <a:xfrm>
            <a:off x="0" y="914400"/>
            <a:ext cx="9144000" cy="46038"/>
            <a:chOff x="336" y="2592"/>
            <a:chExt cx="5040" cy="144"/>
          </a:xfrm>
        </p:grpSpPr>
        <p:sp>
          <p:nvSpPr>
            <p:cNvPr id="2" name="Rectangle 39"/>
            <p:cNvSpPr>
              <a:spLocks noChangeArrowheads="1"/>
            </p:cNvSpPr>
            <p:nvPr userDrawn="1"/>
          </p:nvSpPr>
          <p:spPr bwMode="auto">
            <a:xfrm>
              <a:off x="336" y="2592"/>
              <a:ext cx="1680" cy="144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defRPr/>
              </a:pPr>
              <a:endPara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2059" name="Rectangle 40"/>
            <p:cNvSpPr>
              <a:spLocks noChangeArrowheads="1"/>
            </p:cNvSpPr>
            <p:nvPr userDrawn="1"/>
          </p:nvSpPr>
          <p:spPr bwMode="auto">
            <a:xfrm>
              <a:off x="2016" y="2592"/>
              <a:ext cx="1680" cy="1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defRPr/>
              </a:pPr>
              <a:endPara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  <a:cs typeface="Arial" charset="0"/>
              </a:endParaRPr>
            </a:p>
          </p:txBody>
        </p:sp>
        <p:sp>
          <p:nvSpPr>
            <p:cNvPr id="2060" name="Rectangle 41"/>
            <p:cNvSpPr>
              <a:spLocks noChangeArrowheads="1"/>
            </p:cNvSpPr>
            <p:nvPr userDrawn="1"/>
          </p:nvSpPr>
          <p:spPr bwMode="auto">
            <a:xfrm>
              <a:off x="3696" y="2592"/>
              <a:ext cx="1680" cy="144"/>
            </a:xfrm>
            <a:prstGeom prst="rect">
              <a:avLst/>
            </a:prstGeom>
            <a:solidFill>
              <a:srgbClr val="0000C4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defRPr/>
              </a:pPr>
              <a:endPara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065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MS PGothic" panose="020B0600070205080204" pitchFamily="34" charset="-128"/>
          <a:cs typeface="Times New Roman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34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s://lh6.googleusercontent.com/shJmafup30eExJPHGu79i60nrOfYsEQmQi_JMWu40pl89QLagPUOMyUKkcU7ltjoNnsae-mIBOOd-OPdk3XDzxYcbEvz4s74AjfCq6tU3liyYCyQe0EExmv3-11ZlAKrxfkye7fEho4">
            <a:extLst>
              <a:ext uri="{FF2B5EF4-FFF2-40B4-BE49-F238E27FC236}">
                <a16:creationId xmlns:a16="http://schemas.microsoft.com/office/drawing/2014/main" id="{57439A3C-104C-453F-B581-890730DC5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905000"/>
            <a:ext cx="6335141" cy="278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FC6333-E4B7-4190-A422-9E81151F7C46}"/>
              </a:ext>
            </a:extLst>
          </p:cNvPr>
          <p:cNvSpPr/>
          <p:nvPr/>
        </p:nvSpPr>
        <p:spPr>
          <a:xfrm>
            <a:off x="0" y="990600"/>
            <a:ext cx="381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Allergy to peanuts - reaction hives</a:t>
            </a:r>
            <a:br>
              <a:rPr lang="en-US" sz="1600" dirty="0">
                <a:solidFill>
                  <a:srgbClr val="000000"/>
                </a:solidFill>
                <a:latin typeface="+mn-lt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</a:rPr>
              <a:t>Author: Dr. Jones</a:t>
            </a:r>
            <a:br>
              <a:rPr lang="en-US" sz="1600" dirty="0">
                <a:solidFill>
                  <a:srgbClr val="000000"/>
                </a:solidFill>
                <a:latin typeface="+mn-lt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</a:rPr>
              <a:t>Organization: Good Health</a:t>
            </a:r>
            <a:endParaRPr lang="en-US" sz="1600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Date: 1/2018</a:t>
            </a:r>
            <a:endParaRPr lang="en-US" sz="1600" dirty="0">
              <a:latin typeface="+mn-lt"/>
            </a:endParaRPr>
          </a:p>
          <a:p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4546C7-FFAC-4143-B8E4-5C24602A8071}"/>
              </a:ext>
            </a:extLst>
          </p:cNvPr>
          <p:cNvSpPr/>
          <p:nvPr/>
        </p:nvSpPr>
        <p:spPr>
          <a:xfrm>
            <a:off x="0" y="4383881"/>
            <a:ext cx="4038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Allergy to peanuts - reaction unknown</a:t>
            </a:r>
            <a:endParaRPr lang="en-US" sz="1600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Author: Dr. Smith</a:t>
            </a:r>
            <a:br>
              <a:rPr lang="en-US" sz="1600" dirty="0">
                <a:solidFill>
                  <a:srgbClr val="000000"/>
                </a:solidFill>
                <a:latin typeface="+mn-lt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</a:rPr>
              <a:t>Organization: Sunshine Health</a:t>
            </a:r>
            <a:endParaRPr lang="en-US" sz="1600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Date: 9/2017</a:t>
            </a:r>
            <a:endParaRPr lang="en-US" sz="1600" dirty="0">
              <a:latin typeface="+mn-lt"/>
            </a:endParaRPr>
          </a:p>
          <a:p>
            <a:br>
              <a:rPr lang="en-US" sz="1600" dirty="0">
                <a:latin typeface="+mn-lt"/>
              </a:rPr>
            </a:b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834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s://lh6.googleusercontent.com/shJmafup30eExJPHGu79i60nrOfYsEQmQi_JMWu40pl89QLagPUOMyUKkcU7ltjoNnsae-mIBOOd-OPdk3XDzxYcbEvz4s74AjfCq6tU3liyYCyQe0EExmv3-11ZlAKrxfkye7fEho4">
            <a:extLst>
              <a:ext uri="{FF2B5EF4-FFF2-40B4-BE49-F238E27FC236}">
                <a16:creationId xmlns:a16="http://schemas.microsoft.com/office/drawing/2014/main" id="{57439A3C-104C-453F-B581-890730DC5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905000"/>
            <a:ext cx="6335141" cy="278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FC6333-E4B7-4190-A422-9E81151F7C46}"/>
              </a:ext>
            </a:extLst>
          </p:cNvPr>
          <p:cNvSpPr/>
          <p:nvPr/>
        </p:nvSpPr>
        <p:spPr>
          <a:xfrm>
            <a:off x="0" y="990600"/>
            <a:ext cx="381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Allergy to peanuts - reaction hives</a:t>
            </a:r>
            <a:br>
              <a:rPr lang="en-US" sz="1600" dirty="0">
                <a:solidFill>
                  <a:srgbClr val="000000"/>
                </a:solidFill>
                <a:latin typeface="+mn-lt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</a:rPr>
              <a:t>Author: Dr. Jones</a:t>
            </a:r>
            <a:br>
              <a:rPr lang="en-US" sz="1600" dirty="0">
                <a:solidFill>
                  <a:srgbClr val="000000"/>
                </a:solidFill>
                <a:latin typeface="+mn-lt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</a:rPr>
              <a:t>Organization: Good Health</a:t>
            </a:r>
            <a:endParaRPr lang="en-US" sz="1600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Date: 1/2018</a:t>
            </a:r>
            <a:endParaRPr lang="en-US" sz="1600" dirty="0">
              <a:latin typeface="+mn-lt"/>
            </a:endParaRPr>
          </a:p>
          <a:p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4546C7-FFAC-4143-B8E4-5C24602A8071}"/>
              </a:ext>
            </a:extLst>
          </p:cNvPr>
          <p:cNvSpPr/>
          <p:nvPr/>
        </p:nvSpPr>
        <p:spPr>
          <a:xfrm>
            <a:off x="0" y="4383881"/>
            <a:ext cx="4038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Allergy to peanuts - reaction unknown</a:t>
            </a:r>
            <a:endParaRPr lang="en-US" sz="1600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Author: Dr. Smith</a:t>
            </a:r>
            <a:br>
              <a:rPr lang="en-US" sz="1600" dirty="0">
                <a:solidFill>
                  <a:srgbClr val="000000"/>
                </a:solidFill>
                <a:latin typeface="+mn-lt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</a:rPr>
              <a:t>Organization: Sunshine Health</a:t>
            </a:r>
            <a:endParaRPr lang="en-US" sz="1600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Date: 9/2017</a:t>
            </a:r>
            <a:endParaRPr lang="en-US" sz="1600" dirty="0">
              <a:latin typeface="+mn-lt"/>
            </a:endParaRPr>
          </a:p>
          <a:p>
            <a:br>
              <a:rPr lang="en-US" sz="1600" dirty="0">
                <a:latin typeface="+mn-lt"/>
              </a:rPr>
            </a:b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946540-B2A9-489F-80A4-82793CD13B4D}"/>
              </a:ext>
            </a:extLst>
          </p:cNvPr>
          <p:cNvSpPr/>
          <p:nvPr/>
        </p:nvSpPr>
        <p:spPr>
          <a:xfrm>
            <a:off x="4729671" y="873948"/>
            <a:ext cx="3810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Allergy to peanuts - </a:t>
            </a:r>
            <a:r>
              <a:rPr lang="en-US" sz="1600" b="1" dirty="0">
                <a:latin typeface="+mn-lt"/>
              </a:rPr>
              <a:t>reaction hives</a:t>
            </a:r>
            <a:br>
              <a:rPr lang="en-US" sz="1600" b="1" dirty="0">
                <a:latin typeface="+mn-lt"/>
              </a:rPr>
            </a:br>
            <a:r>
              <a:rPr lang="en-US" sz="1600" dirty="0">
                <a:latin typeface="+mn-lt"/>
              </a:rPr>
              <a:t>Author: Dr. Reconciled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Organization: Future Health</a:t>
            </a:r>
          </a:p>
          <a:p>
            <a:r>
              <a:rPr lang="en-US" sz="1600" dirty="0">
                <a:latin typeface="+mn-lt"/>
              </a:rPr>
              <a:t>Onset date: 2/2005</a:t>
            </a:r>
          </a:p>
          <a:p>
            <a:r>
              <a:rPr lang="en-US" sz="1600" dirty="0">
                <a:latin typeface="+mn-lt"/>
              </a:rPr>
              <a:t>Recorded date: 5/15/2019</a:t>
            </a:r>
          </a:p>
          <a:p>
            <a:br>
              <a:rPr lang="en-US" sz="1600" dirty="0">
                <a:latin typeface="+mn-lt"/>
              </a:rPr>
            </a:b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7D5693-9DE2-40BC-9DFA-7D7BFA68130E}"/>
              </a:ext>
            </a:extLst>
          </p:cNvPr>
          <p:cNvSpPr/>
          <p:nvPr/>
        </p:nvSpPr>
        <p:spPr>
          <a:xfrm>
            <a:off x="6134100" y="3733800"/>
            <a:ext cx="3124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Allergy to peanuts - reaction hives</a:t>
            </a:r>
            <a:br>
              <a:rPr lang="en-US" sz="1600" b="1" dirty="0">
                <a:latin typeface="+mn-lt"/>
              </a:rPr>
            </a:br>
            <a:r>
              <a:rPr lang="en-US" sz="1600" dirty="0">
                <a:latin typeface="+mn-lt"/>
              </a:rPr>
              <a:t>Author: Dr. Reconciled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Organization: Future Health</a:t>
            </a:r>
          </a:p>
          <a:p>
            <a:r>
              <a:rPr lang="en-US" sz="1600" dirty="0">
                <a:latin typeface="+mn-lt"/>
              </a:rPr>
              <a:t>Onset date: 2/2005</a:t>
            </a:r>
          </a:p>
          <a:p>
            <a:r>
              <a:rPr lang="en-US" sz="1600" dirty="0">
                <a:latin typeface="+mn-lt"/>
              </a:rPr>
              <a:t>Recorded date: 5/15/2019</a:t>
            </a:r>
          </a:p>
          <a:p>
            <a:br>
              <a:rPr lang="en-US" sz="1600" dirty="0">
                <a:latin typeface="+mn-lt"/>
              </a:rPr>
            </a:b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3022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278CA7E-7F4C-41B9-9EE2-B4FC99E4B82E}"/>
              </a:ext>
            </a:extLst>
          </p:cNvPr>
          <p:cNvGrpSpPr/>
          <p:nvPr/>
        </p:nvGrpSpPr>
        <p:grpSpPr>
          <a:xfrm>
            <a:off x="4072812" y="2701183"/>
            <a:ext cx="1645056" cy="1559611"/>
            <a:chOff x="6387366" y="1598367"/>
            <a:chExt cx="2376488" cy="2217737"/>
          </a:xfrm>
          <a:solidFill>
            <a:schemeClr val="accent1"/>
          </a:solidFill>
        </p:grpSpPr>
        <p:sp>
          <p:nvSpPr>
            <p:cNvPr id="3" name="Freeform 12">
              <a:extLst>
                <a:ext uri="{FF2B5EF4-FFF2-40B4-BE49-F238E27FC236}">
                  <a16:creationId xmlns:a16="http://schemas.microsoft.com/office/drawing/2014/main" id="{17AA861B-EB5F-4460-BEDE-CE698FFA2D29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565166" y="1598367"/>
              <a:ext cx="1976438" cy="939800"/>
            </a:xfrm>
            <a:custGeom>
              <a:avLst/>
              <a:gdLst>
                <a:gd name="T0" fmla="*/ 2147483647 w 1553"/>
                <a:gd name="T1" fmla="*/ 2147483647 h 753"/>
                <a:gd name="T2" fmla="*/ 2147483647 w 1553"/>
                <a:gd name="T3" fmla="*/ 2147483647 h 753"/>
                <a:gd name="T4" fmla="*/ 2147483647 w 1553"/>
                <a:gd name="T5" fmla="*/ 2147483647 h 753"/>
                <a:gd name="T6" fmla="*/ 2147483647 w 1553"/>
                <a:gd name="T7" fmla="*/ 2147483647 h 753"/>
                <a:gd name="T8" fmla="*/ 2147483647 w 1553"/>
                <a:gd name="T9" fmla="*/ 2147483647 h 753"/>
                <a:gd name="T10" fmla="*/ 2147483647 w 1553"/>
                <a:gd name="T11" fmla="*/ 2147483647 h 753"/>
                <a:gd name="T12" fmla="*/ 2147483647 w 1553"/>
                <a:gd name="T13" fmla="*/ 2147483647 h 753"/>
                <a:gd name="T14" fmla="*/ 2147483647 w 1553"/>
                <a:gd name="T15" fmla="*/ 2147483647 h 753"/>
                <a:gd name="T16" fmla="*/ 2147483647 w 1553"/>
                <a:gd name="T17" fmla="*/ 2147483647 h 753"/>
                <a:gd name="T18" fmla="*/ 2147483647 w 1553"/>
                <a:gd name="T19" fmla="*/ 2147483647 h 753"/>
                <a:gd name="T20" fmla="*/ 2147483647 w 1553"/>
                <a:gd name="T21" fmla="*/ 2147483647 h 753"/>
                <a:gd name="T22" fmla="*/ 2147483647 w 1553"/>
                <a:gd name="T23" fmla="*/ 2147483647 h 753"/>
                <a:gd name="T24" fmla="*/ 2147483647 w 1553"/>
                <a:gd name="T25" fmla="*/ 2147483647 h 753"/>
                <a:gd name="T26" fmla="*/ 2147483647 w 1553"/>
                <a:gd name="T27" fmla="*/ 0 h 753"/>
                <a:gd name="T28" fmla="*/ 2147483647 w 1553"/>
                <a:gd name="T29" fmla="*/ 2147483647 h 753"/>
                <a:gd name="T30" fmla="*/ 2147483647 w 1553"/>
                <a:gd name="T31" fmla="*/ 2147483647 h 753"/>
                <a:gd name="T32" fmla="*/ 2147483647 w 1553"/>
                <a:gd name="T33" fmla="*/ 2147483647 h 753"/>
                <a:gd name="T34" fmla="*/ 2147483647 w 1553"/>
                <a:gd name="T35" fmla="*/ 2147483647 h 753"/>
                <a:gd name="T36" fmla="*/ 2147483647 w 1553"/>
                <a:gd name="T37" fmla="*/ 2147483647 h 753"/>
                <a:gd name="T38" fmla="*/ 2147483647 w 1553"/>
                <a:gd name="T39" fmla="*/ 2147483647 h 753"/>
                <a:gd name="T40" fmla="*/ 2147483647 w 1553"/>
                <a:gd name="T41" fmla="*/ 2147483647 h 753"/>
                <a:gd name="T42" fmla="*/ 2147483647 w 1553"/>
                <a:gd name="T43" fmla="*/ 2147483647 h 753"/>
                <a:gd name="T44" fmla="*/ 2147483647 w 1553"/>
                <a:gd name="T45" fmla="*/ 2147483647 h 753"/>
                <a:gd name="T46" fmla="*/ 2147483647 w 1553"/>
                <a:gd name="T47" fmla="*/ 2147483647 h 753"/>
                <a:gd name="T48" fmla="*/ 2147483647 w 1553"/>
                <a:gd name="T49" fmla="*/ 2147483647 h 753"/>
                <a:gd name="T50" fmla="*/ 2147483647 w 1553"/>
                <a:gd name="T51" fmla="*/ 2147483647 h 753"/>
                <a:gd name="T52" fmla="*/ 2147483647 w 1553"/>
                <a:gd name="T53" fmla="*/ 2147483647 h 753"/>
                <a:gd name="T54" fmla="*/ 2147483647 w 1553"/>
                <a:gd name="T55" fmla="*/ 2147483647 h 753"/>
                <a:gd name="T56" fmla="*/ 2147483647 w 1553"/>
                <a:gd name="T57" fmla="*/ 2147483647 h 753"/>
                <a:gd name="T58" fmla="*/ 2147483647 w 1553"/>
                <a:gd name="T59" fmla="*/ 2147483647 h 753"/>
                <a:gd name="T60" fmla="*/ 2147483647 w 1553"/>
                <a:gd name="T61" fmla="*/ 2147483647 h 753"/>
                <a:gd name="T62" fmla="*/ 2147483647 w 1553"/>
                <a:gd name="T63" fmla="*/ 2147483647 h 753"/>
                <a:gd name="T64" fmla="*/ 2147483647 w 1553"/>
                <a:gd name="T65" fmla="*/ 2147483647 h 753"/>
                <a:gd name="T66" fmla="*/ 0 w 1553"/>
                <a:gd name="T67" fmla="*/ 2147483647 h 753"/>
                <a:gd name="T68" fmla="*/ 2147483647 w 1553"/>
                <a:gd name="T69" fmla="*/ 2147483647 h 753"/>
                <a:gd name="T70" fmla="*/ 2147483647 w 1553"/>
                <a:gd name="T71" fmla="*/ 2147483647 h 753"/>
                <a:gd name="T72" fmla="*/ 2147483647 w 1553"/>
                <a:gd name="T73" fmla="*/ 2147483647 h 753"/>
                <a:gd name="T74" fmla="*/ 2147483647 w 1553"/>
                <a:gd name="T75" fmla="*/ 2147483647 h 753"/>
                <a:gd name="T76" fmla="*/ 2147483647 w 1553"/>
                <a:gd name="T77" fmla="*/ 2147483647 h 753"/>
                <a:gd name="T78" fmla="*/ 2147483647 w 1553"/>
                <a:gd name="T79" fmla="*/ 2147483647 h 753"/>
                <a:gd name="T80" fmla="*/ 2147483647 w 1553"/>
                <a:gd name="T81" fmla="*/ 2147483647 h 753"/>
                <a:gd name="T82" fmla="*/ 2147483647 w 1553"/>
                <a:gd name="T83" fmla="*/ 2147483647 h 753"/>
                <a:gd name="T84" fmla="*/ 2147483647 w 1553"/>
                <a:gd name="T85" fmla="*/ 2147483647 h 753"/>
                <a:gd name="T86" fmla="*/ 2147483647 w 1553"/>
                <a:gd name="T87" fmla="*/ 2147483647 h 753"/>
                <a:gd name="T88" fmla="*/ 2147483647 w 1553"/>
                <a:gd name="T89" fmla="*/ 2147483647 h 753"/>
                <a:gd name="T90" fmla="*/ 2147483647 w 1553"/>
                <a:gd name="T91" fmla="*/ 2147483647 h 753"/>
                <a:gd name="T92" fmla="*/ 2147483647 w 1553"/>
                <a:gd name="T93" fmla="*/ 2147483647 h 753"/>
                <a:gd name="T94" fmla="*/ 2147483647 w 1553"/>
                <a:gd name="T95" fmla="*/ 2147483647 h 753"/>
                <a:gd name="T96" fmla="*/ 2147483647 w 1553"/>
                <a:gd name="T97" fmla="*/ 2147483647 h 753"/>
                <a:gd name="T98" fmla="*/ 2147483647 w 1553"/>
                <a:gd name="T99" fmla="*/ 2147483647 h 753"/>
                <a:gd name="T100" fmla="*/ 2147483647 w 1553"/>
                <a:gd name="T101" fmla="*/ 2147483647 h 753"/>
                <a:gd name="T102" fmla="*/ 2147483647 w 1553"/>
                <a:gd name="T103" fmla="*/ 2147483647 h 753"/>
                <a:gd name="T104" fmla="*/ 2147483647 w 1553"/>
                <a:gd name="T105" fmla="*/ 2147483647 h 753"/>
                <a:gd name="T106" fmla="*/ 2147483647 w 1553"/>
                <a:gd name="T107" fmla="*/ 2147483647 h 753"/>
                <a:gd name="T108" fmla="*/ 2147483647 w 1553"/>
                <a:gd name="T109" fmla="*/ 2147483647 h 75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553"/>
                <a:gd name="T166" fmla="*/ 0 h 753"/>
                <a:gd name="T167" fmla="*/ 1553 w 1553"/>
                <a:gd name="T168" fmla="*/ 753 h 75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553" h="753">
                  <a:moveTo>
                    <a:pt x="983" y="584"/>
                  </a:moveTo>
                  <a:lnTo>
                    <a:pt x="1417" y="541"/>
                  </a:lnTo>
                  <a:lnTo>
                    <a:pt x="1552" y="150"/>
                  </a:lnTo>
                  <a:lnTo>
                    <a:pt x="1447" y="227"/>
                  </a:lnTo>
                  <a:lnTo>
                    <a:pt x="1398" y="186"/>
                  </a:lnTo>
                  <a:lnTo>
                    <a:pt x="1347" y="149"/>
                  </a:lnTo>
                  <a:lnTo>
                    <a:pt x="1294" y="116"/>
                  </a:lnTo>
                  <a:lnTo>
                    <a:pt x="1238" y="87"/>
                  </a:lnTo>
                  <a:lnTo>
                    <a:pt x="1181" y="61"/>
                  </a:lnTo>
                  <a:lnTo>
                    <a:pt x="1122" y="41"/>
                  </a:lnTo>
                  <a:lnTo>
                    <a:pt x="1060" y="23"/>
                  </a:lnTo>
                  <a:lnTo>
                    <a:pt x="999" y="12"/>
                  </a:lnTo>
                  <a:lnTo>
                    <a:pt x="936" y="4"/>
                  </a:lnTo>
                  <a:lnTo>
                    <a:pt x="873" y="0"/>
                  </a:lnTo>
                  <a:lnTo>
                    <a:pt x="810" y="2"/>
                  </a:lnTo>
                  <a:lnTo>
                    <a:pt x="748" y="8"/>
                  </a:lnTo>
                  <a:lnTo>
                    <a:pt x="685" y="19"/>
                  </a:lnTo>
                  <a:lnTo>
                    <a:pt x="624" y="34"/>
                  </a:lnTo>
                  <a:lnTo>
                    <a:pt x="564" y="53"/>
                  </a:lnTo>
                  <a:lnTo>
                    <a:pt x="506" y="76"/>
                  </a:lnTo>
                  <a:lnTo>
                    <a:pt x="449" y="104"/>
                  </a:lnTo>
                  <a:lnTo>
                    <a:pt x="395" y="137"/>
                  </a:lnTo>
                  <a:lnTo>
                    <a:pt x="342" y="172"/>
                  </a:lnTo>
                  <a:lnTo>
                    <a:pt x="294" y="212"/>
                  </a:lnTo>
                  <a:lnTo>
                    <a:pt x="248" y="254"/>
                  </a:lnTo>
                  <a:lnTo>
                    <a:pt x="205" y="301"/>
                  </a:lnTo>
                  <a:lnTo>
                    <a:pt x="165" y="350"/>
                  </a:lnTo>
                  <a:lnTo>
                    <a:pt x="130" y="401"/>
                  </a:lnTo>
                  <a:lnTo>
                    <a:pt x="98" y="456"/>
                  </a:lnTo>
                  <a:lnTo>
                    <a:pt x="71" y="512"/>
                  </a:lnTo>
                  <a:lnTo>
                    <a:pt x="46" y="570"/>
                  </a:lnTo>
                  <a:lnTo>
                    <a:pt x="27" y="631"/>
                  </a:lnTo>
                  <a:lnTo>
                    <a:pt x="11" y="692"/>
                  </a:lnTo>
                  <a:lnTo>
                    <a:pt x="0" y="752"/>
                  </a:lnTo>
                  <a:lnTo>
                    <a:pt x="222" y="608"/>
                  </a:lnTo>
                  <a:lnTo>
                    <a:pt x="440" y="749"/>
                  </a:lnTo>
                  <a:lnTo>
                    <a:pt x="455" y="710"/>
                  </a:lnTo>
                  <a:lnTo>
                    <a:pt x="474" y="670"/>
                  </a:lnTo>
                  <a:lnTo>
                    <a:pt x="498" y="632"/>
                  </a:lnTo>
                  <a:lnTo>
                    <a:pt x="525" y="596"/>
                  </a:lnTo>
                  <a:lnTo>
                    <a:pt x="556" y="563"/>
                  </a:lnTo>
                  <a:lnTo>
                    <a:pt x="589" y="533"/>
                  </a:lnTo>
                  <a:lnTo>
                    <a:pt x="626" y="507"/>
                  </a:lnTo>
                  <a:lnTo>
                    <a:pt x="665" y="485"/>
                  </a:lnTo>
                  <a:lnTo>
                    <a:pt x="706" y="467"/>
                  </a:lnTo>
                  <a:lnTo>
                    <a:pt x="749" y="453"/>
                  </a:lnTo>
                  <a:lnTo>
                    <a:pt x="793" y="443"/>
                  </a:lnTo>
                  <a:lnTo>
                    <a:pt x="837" y="438"/>
                  </a:lnTo>
                  <a:lnTo>
                    <a:pt x="882" y="438"/>
                  </a:lnTo>
                  <a:lnTo>
                    <a:pt x="927" y="442"/>
                  </a:lnTo>
                  <a:lnTo>
                    <a:pt x="971" y="450"/>
                  </a:lnTo>
                  <a:lnTo>
                    <a:pt x="1014" y="464"/>
                  </a:lnTo>
                  <a:lnTo>
                    <a:pt x="1055" y="480"/>
                  </a:lnTo>
                  <a:lnTo>
                    <a:pt x="1095" y="502"/>
                  </a:lnTo>
                  <a:lnTo>
                    <a:pt x="983" y="584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Clr>
                  <a:schemeClr val="bg1"/>
                </a:buClr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216FF93F-3E18-4541-A182-6C9538D7AD63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387366" y="2427042"/>
              <a:ext cx="1554163" cy="1336675"/>
            </a:xfrm>
            <a:custGeom>
              <a:avLst/>
              <a:gdLst>
                <a:gd name="T0" fmla="*/ 1552890 w 1221"/>
                <a:gd name="T1" fmla="*/ 1300481 h 1071"/>
                <a:gd name="T2" fmla="*/ 1275406 w 1221"/>
                <a:gd name="T3" fmla="*/ 1057109 h 1071"/>
                <a:gd name="T4" fmla="*/ 1375963 w 1221"/>
                <a:gd name="T5" fmla="*/ 786279 h 1071"/>
                <a:gd name="T6" fmla="*/ 1321230 w 1221"/>
                <a:gd name="T7" fmla="*/ 792520 h 1071"/>
                <a:gd name="T8" fmla="*/ 1265223 w 1221"/>
                <a:gd name="T9" fmla="*/ 793768 h 1071"/>
                <a:gd name="T10" fmla="*/ 1209218 w 1221"/>
                <a:gd name="T11" fmla="*/ 791272 h 1071"/>
                <a:gd name="T12" fmla="*/ 1153212 w 1221"/>
                <a:gd name="T13" fmla="*/ 781287 h 1071"/>
                <a:gd name="T14" fmla="*/ 1101024 w 1221"/>
                <a:gd name="T15" fmla="*/ 766310 h 1071"/>
                <a:gd name="T16" fmla="*/ 1047564 w 1221"/>
                <a:gd name="T17" fmla="*/ 747589 h 1071"/>
                <a:gd name="T18" fmla="*/ 997923 w 1221"/>
                <a:gd name="T19" fmla="*/ 722628 h 1071"/>
                <a:gd name="T20" fmla="*/ 950827 w 1221"/>
                <a:gd name="T21" fmla="*/ 693923 h 1071"/>
                <a:gd name="T22" fmla="*/ 907550 w 1221"/>
                <a:gd name="T23" fmla="*/ 658977 h 1071"/>
                <a:gd name="T24" fmla="*/ 868091 w 1221"/>
                <a:gd name="T25" fmla="*/ 619039 h 1071"/>
                <a:gd name="T26" fmla="*/ 831178 w 1221"/>
                <a:gd name="T27" fmla="*/ 577853 h 1071"/>
                <a:gd name="T28" fmla="*/ 800629 w 1221"/>
                <a:gd name="T29" fmla="*/ 532923 h 1071"/>
                <a:gd name="T30" fmla="*/ 775172 w 1221"/>
                <a:gd name="T31" fmla="*/ 486744 h 1071"/>
                <a:gd name="T32" fmla="*/ 756079 w 1221"/>
                <a:gd name="T33" fmla="*/ 439318 h 1071"/>
                <a:gd name="T34" fmla="*/ 739532 w 1221"/>
                <a:gd name="T35" fmla="*/ 391892 h 1071"/>
                <a:gd name="T36" fmla="*/ 729349 w 1221"/>
                <a:gd name="T37" fmla="*/ 340721 h 1071"/>
                <a:gd name="T38" fmla="*/ 722985 w 1221"/>
                <a:gd name="T39" fmla="*/ 289550 h 1071"/>
                <a:gd name="T40" fmla="*/ 906277 w 1221"/>
                <a:gd name="T41" fmla="*/ 289550 h 1071"/>
                <a:gd name="T42" fmla="*/ 468413 w 1221"/>
                <a:gd name="T43" fmla="*/ 0 h 1071"/>
                <a:gd name="T44" fmla="*/ 0 w 1221"/>
                <a:gd name="T45" fmla="*/ 293295 h 1071"/>
                <a:gd name="T46" fmla="*/ 170563 w 1221"/>
                <a:gd name="T47" fmla="*/ 292047 h 1071"/>
                <a:gd name="T48" fmla="*/ 176928 w 1221"/>
                <a:gd name="T49" fmla="*/ 369427 h 1071"/>
                <a:gd name="T50" fmla="*/ 188383 w 1221"/>
                <a:gd name="T51" fmla="*/ 446806 h 1071"/>
                <a:gd name="T52" fmla="*/ 204931 w 1221"/>
                <a:gd name="T53" fmla="*/ 522938 h 1071"/>
                <a:gd name="T54" fmla="*/ 226569 w 1221"/>
                <a:gd name="T55" fmla="*/ 597822 h 1071"/>
                <a:gd name="T56" fmla="*/ 254572 w 1221"/>
                <a:gd name="T57" fmla="*/ 671458 h 1071"/>
                <a:gd name="T58" fmla="*/ 288939 w 1221"/>
                <a:gd name="T59" fmla="*/ 742597 h 1071"/>
                <a:gd name="T60" fmla="*/ 327125 w 1221"/>
                <a:gd name="T61" fmla="*/ 811241 h 1071"/>
                <a:gd name="T62" fmla="*/ 370402 w 1221"/>
                <a:gd name="T63" fmla="*/ 876140 h 1071"/>
                <a:gd name="T64" fmla="*/ 417498 w 1221"/>
                <a:gd name="T65" fmla="*/ 937295 h 1071"/>
                <a:gd name="T66" fmla="*/ 469686 w 1221"/>
                <a:gd name="T67" fmla="*/ 994706 h 1071"/>
                <a:gd name="T68" fmla="*/ 525691 w 1221"/>
                <a:gd name="T69" fmla="*/ 1049620 h 1071"/>
                <a:gd name="T70" fmla="*/ 584243 w 1221"/>
                <a:gd name="T71" fmla="*/ 1100791 h 1071"/>
                <a:gd name="T72" fmla="*/ 647886 w 1221"/>
                <a:gd name="T73" fmla="*/ 1146969 h 1071"/>
                <a:gd name="T74" fmla="*/ 715348 w 1221"/>
                <a:gd name="T75" fmla="*/ 1186907 h 1071"/>
                <a:gd name="T76" fmla="*/ 785355 w 1221"/>
                <a:gd name="T77" fmla="*/ 1224349 h 1071"/>
                <a:gd name="T78" fmla="*/ 856635 w 1221"/>
                <a:gd name="T79" fmla="*/ 1256799 h 1071"/>
                <a:gd name="T80" fmla="*/ 931734 w 1221"/>
                <a:gd name="T81" fmla="*/ 1281760 h 1071"/>
                <a:gd name="T82" fmla="*/ 1006833 w 1221"/>
                <a:gd name="T83" fmla="*/ 1304225 h 1071"/>
                <a:gd name="T84" fmla="*/ 1084477 w 1221"/>
                <a:gd name="T85" fmla="*/ 1319202 h 1071"/>
                <a:gd name="T86" fmla="*/ 1162122 w 1221"/>
                <a:gd name="T87" fmla="*/ 1331683 h 1071"/>
                <a:gd name="T88" fmla="*/ 1241039 w 1221"/>
                <a:gd name="T89" fmla="*/ 1335427 h 1071"/>
                <a:gd name="T90" fmla="*/ 1319957 w 1221"/>
                <a:gd name="T91" fmla="*/ 1335427 h 1071"/>
                <a:gd name="T92" fmla="*/ 1397601 w 1221"/>
                <a:gd name="T93" fmla="*/ 1330435 h 1071"/>
                <a:gd name="T94" fmla="*/ 1476519 w 1221"/>
                <a:gd name="T95" fmla="*/ 1317954 h 1071"/>
                <a:gd name="T96" fmla="*/ 1552890 w 1221"/>
                <a:gd name="T97" fmla="*/ 1300481 h 107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21"/>
                <a:gd name="T148" fmla="*/ 0 h 1071"/>
                <a:gd name="T149" fmla="*/ 1221 w 1221"/>
                <a:gd name="T150" fmla="*/ 1071 h 107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21" h="1071">
                  <a:moveTo>
                    <a:pt x="1220" y="1042"/>
                  </a:moveTo>
                  <a:lnTo>
                    <a:pt x="1002" y="847"/>
                  </a:lnTo>
                  <a:lnTo>
                    <a:pt x="1081" y="630"/>
                  </a:lnTo>
                  <a:lnTo>
                    <a:pt x="1038" y="635"/>
                  </a:lnTo>
                  <a:lnTo>
                    <a:pt x="994" y="636"/>
                  </a:lnTo>
                  <a:lnTo>
                    <a:pt x="950" y="634"/>
                  </a:lnTo>
                  <a:lnTo>
                    <a:pt x="906" y="626"/>
                  </a:lnTo>
                  <a:lnTo>
                    <a:pt x="865" y="614"/>
                  </a:lnTo>
                  <a:lnTo>
                    <a:pt x="823" y="599"/>
                  </a:lnTo>
                  <a:lnTo>
                    <a:pt x="784" y="579"/>
                  </a:lnTo>
                  <a:lnTo>
                    <a:pt x="747" y="556"/>
                  </a:lnTo>
                  <a:lnTo>
                    <a:pt x="713" y="528"/>
                  </a:lnTo>
                  <a:lnTo>
                    <a:pt x="682" y="496"/>
                  </a:lnTo>
                  <a:lnTo>
                    <a:pt x="653" y="463"/>
                  </a:lnTo>
                  <a:lnTo>
                    <a:pt x="629" y="427"/>
                  </a:lnTo>
                  <a:lnTo>
                    <a:pt x="609" y="390"/>
                  </a:lnTo>
                  <a:lnTo>
                    <a:pt x="594" y="352"/>
                  </a:lnTo>
                  <a:lnTo>
                    <a:pt x="581" y="314"/>
                  </a:lnTo>
                  <a:lnTo>
                    <a:pt x="573" y="273"/>
                  </a:lnTo>
                  <a:lnTo>
                    <a:pt x="568" y="232"/>
                  </a:lnTo>
                  <a:lnTo>
                    <a:pt x="712" y="232"/>
                  </a:lnTo>
                  <a:lnTo>
                    <a:pt x="368" y="0"/>
                  </a:lnTo>
                  <a:lnTo>
                    <a:pt x="0" y="235"/>
                  </a:lnTo>
                  <a:lnTo>
                    <a:pt x="134" y="234"/>
                  </a:lnTo>
                  <a:lnTo>
                    <a:pt x="139" y="296"/>
                  </a:lnTo>
                  <a:lnTo>
                    <a:pt x="148" y="358"/>
                  </a:lnTo>
                  <a:lnTo>
                    <a:pt x="161" y="419"/>
                  </a:lnTo>
                  <a:lnTo>
                    <a:pt x="178" y="479"/>
                  </a:lnTo>
                  <a:lnTo>
                    <a:pt x="200" y="538"/>
                  </a:lnTo>
                  <a:lnTo>
                    <a:pt x="227" y="595"/>
                  </a:lnTo>
                  <a:lnTo>
                    <a:pt x="257" y="650"/>
                  </a:lnTo>
                  <a:lnTo>
                    <a:pt x="291" y="702"/>
                  </a:lnTo>
                  <a:lnTo>
                    <a:pt x="328" y="751"/>
                  </a:lnTo>
                  <a:lnTo>
                    <a:pt x="369" y="797"/>
                  </a:lnTo>
                  <a:lnTo>
                    <a:pt x="413" y="841"/>
                  </a:lnTo>
                  <a:lnTo>
                    <a:pt x="459" y="882"/>
                  </a:lnTo>
                  <a:lnTo>
                    <a:pt x="509" y="919"/>
                  </a:lnTo>
                  <a:lnTo>
                    <a:pt x="562" y="951"/>
                  </a:lnTo>
                  <a:lnTo>
                    <a:pt x="617" y="981"/>
                  </a:lnTo>
                  <a:lnTo>
                    <a:pt x="673" y="1007"/>
                  </a:lnTo>
                  <a:lnTo>
                    <a:pt x="732" y="1027"/>
                  </a:lnTo>
                  <a:lnTo>
                    <a:pt x="791" y="1045"/>
                  </a:lnTo>
                  <a:lnTo>
                    <a:pt x="852" y="1057"/>
                  </a:lnTo>
                  <a:lnTo>
                    <a:pt x="913" y="1067"/>
                  </a:lnTo>
                  <a:lnTo>
                    <a:pt x="975" y="1070"/>
                  </a:lnTo>
                  <a:lnTo>
                    <a:pt x="1037" y="1070"/>
                  </a:lnTo>
                  <a:lnTo>
                    <a:pt x="1098" y="1066"/>
                  </a:lnTo>
                  <a:lnTo>
                    <a:pt x="1160" y="1056"/>
                  </a:lnTo>
                  <a:lnTo>
                    <a:pt x="1220" y="1042"/>
                  </a:lnTo>
                </a:path>
              </a:pathLst>
            </a:custGeom>
            <a:grpFill/>
            <a:ln w="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Clr>
                  <a:schemeClr val="bg1"/>
                </a:buClr>
                <a:defRPr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08050066-1DB1-49CD-81F9-2E06E8BB3FD8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7754204" y="2019054"/>
              <a:ext cx="1009650" cy="1797050"/>
            </a:xfrm>
            <a:custGeom>
              <a:avLst/>
              <a:gdLst>
                <a:gd name="T0" fmla="*/ 2147483647 w 793"/>
                <a:gd name="T1" fmla="*/ 2147483647 h 1440"/>
                <a:gd name="T2" fmla="*/ 2147483647 w 793"/>
                <a:gd name="T3" fmla="*/ 2147483647 h 1440"/>
                <a:gd name="T4" fmla="*/ 2147483647 w 793"/>
                <a:gd name="T5" fmla="*/ 2147483647 h 1440"/>
                <a:gd name="T6" fmla="*/ 2147483647 w 793"/>
                <a:gd name="T7" fmla="*/ 2147483647 h 1440"/>
                <a:gd name="T8" fmla="*/ 2147483647 w 793"/>
                <a:gd name="T9" fmla="*/ 2147483647 h 1440"/>
                <a:gd name="T10" fmla="*/ 2147483647 w 793"/>
                <a:gd name="T11" fmla="*/ 2147483647 h 1440"/>
                <a:gd name="T12" fmla="*/ 2147483647 w 793"/>
                <a:gd name="T13" fmla="*/ 2147483647 h 1440"/>
                <a:gd name="T14" fmla="*/ 2147483647 w 793"/>
                <a:gd name="T15" fmla="*/ 2147483647 h 1440"/>
                <a:gd name="T16" fmla="*/ 2147483647 w 793"/>
                <a:gd name="T17" fmla="*/ 2147483647 h 1440"/>
                <a:gd name="T18" fmla="*/ 2147483647 w 793"/>
                <a:gd name="T19" fmla="*/ 2147483647 h 1440"/>
                <a:gd name="T20" fmla="*/ 2147483647 w 793"/>
                <a:gd name="T21" fmla="*/ 2147483647 h 1440"/>
                <a:gd name="T22" fmla="*/ 2147483647 w 793"/>
                <a:gd name="T23" fmla="*/ 2147483647 h 1440"/>
                <a:gd name="T24" fmla="*/ 2147483647 w 793"/>
                <a:gd name="T25" fmla="*/ 2147483647 h 1440"/>
                <a:gd name="T26" fmla="*/ 2147483647 w 793"/>
                <a:gd name="T27" fmla="*/ 2147483647 h 1440"/>
                <a:gd name="T28" fmla="*/ 2147483647 w 793"/>
                <a:gd name="T29" fmla="*/ 2147483647 h 1440"/>
                <a:gd name="T30" fmla="*/ 2147483647 w 793"/>
                <a:gd name="T31" fmla="*/ 2147483647 h 1440"/>
                <a:gd name="T32" fmla="*/ 2147483647 w 793"/>
                <a:gd name="T33" fmla="*/ 2147483647 h 1440"/>
                <a:gd name="T34" fmla="*/ 2147483647 w 793"/>
                <a:gd name="T35" fmla="*/ 2147483647 h 1440"/>
                <a:gd name="T36" fmla="*/ 2147483647 w 793"/>
                <a:gd name="T37" fmla="*/ 2147483647 h 1440"/>
                <a:gd name="T38" fmla="*/ 2147483647 w 793"/>
                <a:gd name="T39" fmla="*/ 2147483647 h 1440"/>
                <a:gd name="T40" fmla="*/ 2147483647 w 793"/>
                <a:gd name="T41" fmla="*/ 2147483647 h 1440"/>
                <a:gd name="T42" fmla="*/ 2147483647 w 793"/>
                <a:gd name="T43" fmla="*/ 2147483647 h 1440"/>
                <a:gd name="T44" fmla="*/ 2147483647 w 793"/>
                <a:gd name="T45" fmla="*/ 2147483647 h 1440"/>
                <a:gd name="T46" fmla="*/ 2147483647 w 793"/>
                <a:gd name="T47" fmla="*/ 2147483647 h 1440"/>
                <a:gd name="T48" fmla="*/ 2147483647 w 793"/>
                <a:gd name="T49" fmla="*/ 2147483647 h 1440"/>
                <a:gd name="T50" fmla="*/ 2147483647 w 793"/>
                <a:gd name="T51" fmla="*/ 2147483647 h 1440"/>
                <a:gd name="T52" fmla="*/ 2147483647 w 793"/>
                <a:gd name="T53" fmla="*/ 0 h 1440"/>
                <a:gd name="T54" fmla="*/ 2147483647 w 793"/>
                <a:gd name="T55" fmla="*/ 2147483647 h 1440"/>
                <a:gd name="T56" fmla="*/ 2147483647 w 793"/>
                <a:gd name="T57" fmla="*/ 2147483647 h 1440"/>
                <a:gd name="T58" fmla="*/ 2147483647 w 793"/>
                <a:gd name="T59" fmla="*/ 2147483647 h 1440"/>
                <a:gd name="T60" fmla="*/ 2147483647 w 793"/>
                <a:gd name="T61" fmla="*/ 2147483647 h 1440"/>
                <a:gd name="T62" fmla="*/ 2147483647 w 793"/>
                <a:gd name="T63" fmla="*/ 2147483647 h 1440"/>
                <a:gd name="T64" fmla="*/ 2147483647 w 793"/>
                <a:gd name="T65" fmla="*/ 2147483647 h 1440"/>
                <a:gd name="T66" fmla="*/ 2147483647 w 793"/>
                <a:gd name="T67" fmla="*/ 2147483647 h 1440"/>
                <a:gd name="T68" fmla="*/ 2147483647 w 793"/>
                <a:gd name="T69" fmla="*/ 2147483647 h 1440"/>
                <a:gd name="T70" fmla="*/ 2147483647 w 793"/>
                <a:gd name="T71" fmla="*/ 2147483647 h 1440"/>
                <a:gd name="T72" fmla="*/ 2147483647 w 793"/>
                <a:gd name="T73" fmla="*/ 2147483647 h 1440"/>
                <a:gd name="T74" fmla="*/ 2147483647 w 793"/>
                <a:gd name="T75" fmla="*/ 2147483647 h 1440"/>
                <a:gd name="T76" fmla="*/ 2147483647 w 793"/>
                <a:gd name="T77" fmla="*/ 2147483647 h 1440"/>
                <a:gd name="T78" fmla="*/ 2147483647 w 793"/>
                <a:gd name="T79" fmla="*/ 2147483647 h 1440"/>
                <a:gd name="T80" fmla="*/ 2147483647 w 793"/>
                <a:gd name="T81" fmla="*/ 2147483647 h 1440"/>
                <a:gd name="T82" fmla="*/ 2147483647 w 793"/>
                <a:gd name="T83" fmla="*/ 2147483647 h 1440"/>
                <a:gd name="T84" fmla="*/ 2147483647 w 793"/>
                <a:gd name="T85" fmla="*/ 2147483647 h 1440"/>
                <a:gd name="T86" fmla="*/ 2147483647 w 793"/>
                <a:gd name="T87" fmla="*/ 2147483647 h 1440"/>
                <a:gd name="T88" fmla="*/ 2147483647 w 793"/>
                <a:gd name="T89" fmla="*/ 2147483647 h 1440"/>
                <a:gd name="T90" fmla="*/ 2147483647 w 793"/>
                <a:gd name="T91" fmla="*/ 2147483647 h 1440"/>
                <a:gd name="T92" fmla="*/ 0 w 793"/>
                <a:gd name="T93" fmla="*/ 2147483647 h 1440"/>
                <a:gd name="T94" fmla="*/ 2147483647 w 793"/>
                <a:gd name="T95" fmla="*/ 2147483647 h 1440"/>
                <a:gd name="T96" fmla="*/ 2147483647 w 793"/>
                <a:gd name="T97" fmla="*/ 2147483647 h 144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93"/>
                <a:gd name="T148" fmla="*/ 0 h 1440"/>
                <a:gd name="T149" fmla="*/ 793 w 793"/>
                <a:gd name="T150" fmla="*/ 1440 h 144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93" h="1440">
                  <a:moveTo>
                    <a:pt x="286" y="1316"/>
                  </a:moveTo>
                  <a:lnTo>
                    <a:pt x="340" y="1290"/>
                  </a:lnTo>
                  <a:lnTo>
                    <a:pt x="392" y="1260"/>
                  </a:lnTo>
                  <a:lnTo>
                    <a:pt x="442" y="1225"/>
                  </a:lnTo>
                  <a:lnTo>
                    <a:pt x="490" y="1187"/>
                  </a:lnTo>
                  <a:lnTo>
                    <a:pt x="535" y="1146"/>
                  </a:lnTo>
                  <a:lnTo>
                    <a:pt x="576" y="1102"/>
                  </a:lnTo>
                  <a:lnTo>
                    <a:pt x="616" y="1055"/>
                  </a:lnTo>
                  <a:lnTo>
                    <a:pt x="650" y="1005"/>
                  </a:lnTo>
                  <a:lnTo>
                    <a:pt x="682" y="953"/>
                  </a:lnTo>
                  <a:lnTo>
                    <a:pt x="709" y="900"/>
                  </a:lnTo>
                  <a:lnTo>
                    <a:pt x="734" y="844"/>
                  </a:lnTo>
                  <a:lnTo>
                    <a:pt x="753" y="786"/>
                  </a:lnTo>
                  <a:lnTo>
                    <a:pt x="770" y="727"/>
                  </a:lnTo>
                  <a:lnTo>
                    <a:pt x="781" y="668"/>
                  </a:lnTo>
                  <a:lnTo>
                    <a:pt x="789" y="608"/>
                  </a:lnTo>
                  <a:lnTo>
                    <a:pt x="792" y="547"/>
                  </a:lnTo>
                  <a:lnTo>
                    <a:pt x="790" y="487"/>
                  </a:lnTo>
                  <a:lnTo>
                    <a:pt x="786" y="427"/>
                  </a:lnTo>
                  <a:lnTo>
                    <a:pt x="775" y="367"/>
                  </a:lnTo>
                  <a:lnTo>
                    <a:pt x="762" y="308"/>
                  </a:lnTo>
                  <a:lnTo>
                    <a:pt x="744" y="249"/>
                  </a:lnTo>
                  <a:lnTo>
                    <a:pt x="722" y="193"/>
                  </a:lnTo>
                  <a:lnTo>
                    <a:pt x="697" y="137"/>
                  </a:lnTo>
                  <a:lnTo>
                    <a:pt x="667" y="84"/>
                  </a:lnTo>
                  <a:lnTo>
                    <a:pt x="639" y="41"/>
                  </a:lnTo>
                  <a:lnTo>
                    <a:pt x="609" y="0"/>
                  </a:lnTo>
                  <a:lnTo>
                    <a:pt x="521" y="247"/>
                  </a:lnTo>
                  <a:lnTo>
                    <a:pt x="277" y="280"/>
                  </a:lnTo>
                  <a:lnTo>
                    <a:pt x="294" y="308"/>
                  </a:lnTo>
                  <a:lnTo>
                    <a:pt x="316" y="347"/>
                  </a:lnTo>
                  <a:lnTo>
                    <a:pt x="332" y="389"/>
                  </a:lnTo>
                  <a:lnTo>
                    <a:pt x="345" y="431"/>
                  </a:lnTo>
                  <a:lnTo>
                    <a:pt x="353" y="475"/>
                  </a:lnTo>
                  <a:lnTo>
                    <a:pt x="357" y="519"/>
                  </a:lnTo>
                  <a:lnTo>
                    <a:pt x="355" y="564"/>
                  </a:lnTo>
                  <a:lnTo>
                    <a:pt x="350" y="608"/>
                  </a:lnTo>
                  <a:lnTo>
                    <a:pt x="339" y="652"/>
                  </a:lnTo>
                  <a:lnTo>
                    <a:pt x="325" y="694"/>
                  </a:lnTo>
                  <a:lnTo>
                    <a:pt x="306" y="734"/>
                  </a:lnTo>
                  <a:lnTo>
                    <a:pt x="284" y="772"/>
                  </a:lnTo>
                  <a:lnTo>
                    <a:pt x="257" y="808"/>
                  </a:lnTo>
                  <a:lnTo>
                    <a:pt x="227" y="841"/>
                  </a:lnTo>
                  <a:lnTo>
                    <a:pt x="193" y="871"/>
                  </a:lnTo>
                  <a:lnTo>
                    <a:pt x="156" y="896"/>
                  </a:lnTo>
                  <a:lnTo>
                    <a:pt x="113" y="761"/>
                  </a:lnTo>
                  <a:lnTo>
                    <a:pt x="0" y="1169"/>
                  </a:lnTo>
                  <a:lnTo>
                    <a:pt x="321" y="1439"/>
                  </a:lnTo>
                  <a:lnTo>
                    <a:pt x="286" y="1316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Clr>
                  <a:schemeClr val="bg1"/>
                </a:buClr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331">
            <a:extLst>
              <a:ext uri="{FF2B5EF4-FFF2-40B4-BE49-F238E27FC236}">
                <a16:creationId xmlns:a16="http://schemas.microsoft.com/office/drawing/2014/main" id="{CA75C4E8-1378-4E15-9151-042F0ADF4CF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96642" y="2945809"/>
            <a:ext cx="993405" cy="993405"/>
            <a:chOff x="3628" y="1334"/>
            <a:chExt cx="340" cy="340"/>
          </a:xfrm>
          <a:solidFill>
            <a:schemeClr val="accent6">
              <a:lumMod val="50000"/>
            </a:schemeClr>
          </a:solidFill>
        </p:grpSpPr>
        <p:sp>
          <p:nvSpPr>
            <p:cNvPr id="8" name="Freeform 332">
              <a:extLst>
                <a:ext uri="{FF2B5EF4-FFF2-40B4-BE49-F238E27FC236}">
                  <a16:creationId xmlns:a16="http://schemas.microsoft.com/office/drawing/2014/main" id="{3F498E96-CE2F-4356-B2D9-F0582B5F17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333">
              <a:extLst>
                <a:ext uri="{FF2B5EF4-FFF2-40B4-BE49-F238E27FC236}">
                  <a16:creationId xmlns:a16="http://schemas.microsoft.com/office/drawing/2014/main" id="{191B95AD-1F48-4C8F-94AF-6A2E06287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Freeform 909">
            <a:extLst>
              <a:ext uri="{FF2B5EF4-FFF2-40B4-BE49-F238E27FC236}">
                <a16:creationId xmlns:a16="http://schemas.microsoft.com/office/drawing/2014/main" id="{5FAF213B-EF45-43FB-B053-4EE5E3497DB9}"/>
              </a:ext>
            </a:extLst>
          </p:cNvPr>
          <p:cNvSpPr>
            <a:spLocks noEditPoints="1"/>
          </p:cNvSpPr>
          <p:nvPr/>
        </p:nvSpPr>
        <p:spPr bwMode="auto">
          <a:xfrm>
            <a:off x="6225459" y="2934742"/>
            <a:ext cx="457200" cy="365760"/>
          </a:xfrm>
          <a:custGeom>
            <a:avLst/>
            <a:gdLst>
              <a:gd name="T0" fmla="*/ 309 w 320"/>
              <a:gd name="T1" fmla="*/ 235 h 235"/>
              <a:gd name="T2" fmla="*/ 10 w 320"/>
              <a:gd name="T3" fmla="*/ 235 h 235"/>
              <a:gd name="T4" fmla="*/ 0 w 320"/>
              <a:gd name="T5" fmla="*/ 224 h 235"/>
              <a:gd name="T6" fmla="*/ 0 w 320"/>
              <a:gd name="T7" fmla="*/ 11 h 235"/>
              <a:gd name="T8" fmla="*/ 10 w 320"/>
              <a:gd name="T9" fmla="*/ 0 h 235"/>
              <a:gd name="T10" fmla="*/ 96 w 320"/>
              <a:gd name="T11" fmla="*/ 0 h 235"/>
              <a:gd name="T12" fmla="*/ 105 w 320"/>
              <a:gd name="T13" fmla="*/ 5 h 235"/>
              <a:gd name="T14" fmla="*/ 123 w 320"/>
              <a:gd name="T15" fmla="*/ 32 h 235"/>
              <a:gd name="T16" fmla="*/ 309 w 320"/>
              <a:gd name="T17" fmla="*/ 32 h 235"/>
              <a:gd name="T18" fmla="*/ 320 w 320"/>
              <a:gd name="T19" fmla="*/ 43 h 235"/>
              <a:gd name="T20" fmla="*/ 320 w 320"/>
              <a:gd name="T21" fmla="*/ 224 h 235"/>
              <a:gd name="T22" fmla="*/ 309 w 320"/>
              <a:gd name="T23" fmla="*/ 235 h 235"/>
              <a:gd name="T24" fmla="*/ 21 w 320"/>
              <a:gd name="T25" fmla="*/ 214 h 235"/>
              <a:gd name="T26" fmla="*/ 298 w 320"/>
              <a:gd name="T27" fmla="*/ 214 h 235"/>
              <a:gd name="T28" fmla="*/ 298 w 320"/>
              <a:gd name="T29" fmla="*/ 54 h 235"/>
              <a:gd name="T30" fmla="*/ 117 w 320"/>
              <a:gd name="T31" fmla="*/ 54 h 235"/>
              <a:gd name="T32" fmla="*/ 108 w 320"/>
              <a:gd name="T33" fmla="*/ 49 h 235"/>
              <a:gd name="T34" fmla="*/ 90 w 320"/>
              <a:gd name="T35" fmla="*/ 22 h 235"/>
              <a:gd name="T36" fmla="*/ 21 w 320"/>
              <a:gd name="T37" fmla="*/ 22 h 235"/>
              <a:gd name="T38" fmla="*/ 21 w 320"/>
              <a:gd name="T39" fmla="*/ 214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20" h="235">
                <a:moveTo>
                  <a:pt x="309" y="235"/>
                </a:moveTo>
                <a:cubicBezTo>
                  <a:pt x="10" y="235"/>
                  <a:pt x="10" y="235"/>
                  <a:pt x="10" y="235"/>
                </a:cubicBezTo>
                <a:cubicBezTo>
                  <a:pt x="4" y="235"/>
                  <a:pt x="0" y="230"/>
                  <a:pt x="0" y="224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0"/>
                  <a:pt x="10" y="0"/>
                </a:cubicBezTo>
                <a:cubicBezTo>
                  <a:pt x="96" y="0"/>
                  <a:pt x="96" y="0"/>
                  <a:pt x="96" y="0"/>
                </a:cubicBezTo>
                <a:cubicBezTo>
                  <a:pt x="99" y="0"/>
                  <a:pt x="103" y="2"/>
                  <a:pt x="105" y="5"/>
                </a:cubicBezTo>
                <a:cubicBezTo>
                  <a:pt x="123" y="32"/>
                  <a:pt x="123" y="32"/>
                  <a:pt x="123" y="32"/>
                </a:cubicBezTo>
                <a:cubicBezTo>
                  <a:pt x="309" y="32"/>
                  <a:pt x="309" y="32"/>
                  <a:pt x="309" y="32"/>
                </a:cubicBezTo>
                <a:cubicBezTo>
                  <a:pt x="315" y="32"/>
                  <a:pt x="320" y="37"/>
                  <a:pt x="320" y="43"/>
                </a:cubicBezTo>
                <a:cubicBezTo>
                  <a:pt x="320" y="224"/>
                  <a:pt x="320" y="224"/>
                  <a:pt x="320" y="224"/>
                </a:cubicBezTo>
                <a:cubicBezTo>
                  <a:pt x="320" y="230"/>
                  <a:pt x="315" y="235"/>
                  <a:pt x="309" y="235"/>
                </a:cubicBezTo>
                <a:close/>
                <a:moveTo>
                  <a:pt x="21" y="214"/>
                </a:moveTo>
                <a:cubicBezTo>
                  <a:pt x="298" y="214"/>
                  <a:pt x="298" y="214"/>
                  <a:pt x="298" y="214"/>
                </a:cubicBezTo>
                <a:cubicBezTo>
                  <a:pt x="298" y="54"/>
                  <a:pt x="298" y="54"/>
                  <a:pt x="298" y="54"/>
                </a:cubicBezTo>
                <a:cubicBezTo>
                  <a:pt x="117" y="54"/>
                  <a:pt x="117" y="54"/>
                  <a:pt x="117" y="54"/>
                </a:cubicBezTo>
                <a:cubicBezTo>
                  <a:pt x="113" y="54"/>
                  <a:pt x="110" y="52"/>
                  <a:pt x="108" y="49"/>
                </a:cubicBezTo>
                <a:cubicBezTo>
                  <a:pt x="90" y="22"/>
                  <a:pt x="90" y="22"/>
                  <a:pt x="90" y="22"/>
                </a:cubicBezTo>
                <a:cubicBezTo>
                  <a:pt x="21" y="22"/>
                  <a:pt x="21" y="22"/>
                  <a:pt x="21" y="22"/>
                </a:cubicBezTo>
                <a:lnTo>
                  <a:pt x="21" y="214"/>
                </a:ln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5">
                <a:lumMod val="50000"/>
              </a:schemeClr>
            </a:solidFill>
            <a:beve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Freeform 215">
            <a:extLst>
              <a:ext uri="{FF2B5EF4-FFF2-40B4-BE49-F238E27FC236}">
                <a16:creationId xmlns:a16="http://schemas.microsoft.com/office/drawing/2014/main" id="{AFB34E1A-54DF-4C36-94AC-746A999CB7C1}"/>
              </a:ext>
            </a:extLst>
          </p:cNvPr>
          <p:cNvSpPr>
            <a:spLocks/>
          </p:cNvSpPr>
          <p:nvPr/>
        </p:nvSpPr>
        <p:spPr bwMode="auto">
          <a:xfrm>
            <a:off x="6321325" y="3082931"/>
            <a:ext cx="277167" cy="31214"/>
          </a:xfrm>
          <a:custGeom>
            <a:avLst/>
            <a:gdLst>
              <a:gd name="T0" fmla="*/ 75 w 85"/>
              <a:gd name="T1" fmla="*/ 0 h 21"/>
              <a:gd name="T2" fmla="*/ 11 w 85"/>
              <a:gd name="T3" fmla="*/ 0 h 21"/>
              <a:gd name="T4" fmla="*/ 0 w 85"/>
              <a:gd name="T5" fmla="*/ 10 h 21"/>
              <a:gd name="T6" fmla="*/ 11 w 85"/>
              <a:gd name="T7" fmla="*/ 21 h 21"/>
              <a:gd name="T8" fmla="*/ 75 w 85"/>
              <a:gd name="T9" fmla="*/ 21 h 21"/>
              <a:gd name="T10" fmla="*/ 85 w 85"/>
              <a:gd name="T11" fmla="*/ 10 h 21"/>
              <a:gd name="T12" fmla="*/ 75 w 85"/>
              <a:gd name="T13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5" h="21">
                <a:moveTo>
                  <a:pt x="75" y="0"/>
                </a:move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16"/>
                  <a:pt x="5" y="21"/>
                  <a:pt x="11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81" y="21"/>
                  <a:pt x="85" y="16"/>
                  <a:pt x="85" y="10"/>
                </a:cubicBezTo>
                <a:cubicBezTo>
                  <a:pt x="85" y="4"/>
                  <a:pt x="81" y="0"/>
                  <a:pt x="75" y="0"/>
                </a:cubicBez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5">
                <a:lumMod val="50000"/>
              </a:schemeClr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Freeform 215">
            <a:extLst>
              <a:ext uri="{FF2B5EF4-FFF2-40B4-BE49-F238E27FC236}">
                <a16:creationId xmlns:a16="http://schemas.microsoft.com/office/drawing/2014/main" id="{0D24C53E-8E6F-47DA-B2CC-0B7D0E5FB17C}"/>
              </a:ext>
            </a:extLst>
          </p:cNvPr>
          <p:cNvSpPr>
            <a:spLocks/>
          </p:cNvSpPr>
          <p:nvPr/>
        </p:nvSpPr>
        <p:spPr bwMode="auto">
          <a:xfrm>
            <a:off x="6321324" y="3148177"/>
            <a:ext cx="277167" cy="31214"/>
          </a:xfrm>
          <a:custGeom>
            <a:avLst/>
            <a:gdLst>
              <a:gd name="T0" fmla="*/ 75 w 85"/>
              <a:gd name="T1" fmla="*/ 0 h 21"/>
              <a:gd name="T2" fmla="*/ 11 w 85"/>
              <a:gd name="T3" fmla="*/ 0 h 21"/>
              <a:gd name="T4" fmla="*/ 0 w 85"/>
              <a:gd name="T5" fmla="*/ 10 h 21"/>
              <a:gd name="T6" fmla="*/ 11 w 85"/>
              <a:gd name="T7" fmla="*/ 21 h 21"/>
              <a:gd name="T8" fmla="*/ 75 w 85"/>
              <a:gd name="T9" fmla="*/ 21 h 21"/>
              <a:gd name="T10" fmla="*/ 85 w 85"/>
              <a:gd name="T11" fmla="*/ 10 h 21"/>
              <a:gd name="T12" fmla="*/ 75 w 85"/>
              <a:gd name="T13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5" h="21">
                <a:moveTo>
                  <a:pt x="75" y="0"/>
                </a:move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16"/>
                  <a:pt x="5" y="21"/>
                  <a:pt x="11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81" y="21"/>
                  <a:pt x="85" y="16"/>
                  <a:pt x="85" y="10"/>
                </a:cubicBezTo>
                <a:cubicBezTo>
                  <a:pt x="85" y="4"/>
                  <a:pt x="81" y="0"/>
                  <a:pt x="7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 w="3175">
            <a:solidFill>
              <a:schemeClr val="accent6">
                <a:lumMod val="50000"/>
              </a:schemeClr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23C56F-153F-4890-8D23-F37BC5F969A4}"/>
              </a:ext>
            </a:extLst>
          </p:cNvPr>
          <p:cNvGrpSpPr/>
          <p:nvPr/>
        </p:nvGrpSpPr>
        <p:grpSpPr>
          <a:xfrm>
            <a:off x="3350868" y="3082931"/>
            <a:ext cx="335376" cy="252571"/>
            <a:chOff x="6204686" y="3153320"/>
            <a:chExt cx="898499" cy="616634"/>
          </a:xfrm>
          <a:solidFill>
            <a:schemeClr val="accent6">
              <a:lumMod val="50000"/>
            </a:schemeClr>
          </a:solidFill>
        </p:grpSpPr>
        <p:sp>
          <p:nvSpPr>
            <p:cNvPr id="14" name="Freeform 909">
              <a:extLst>
                <a:ext uri="{FF2B5EF4-FFF2-40B4-BE49-F238E27FC236}">
                  <a16:creationId xmlns:a16="http://schemas.microsoft.com/office/drawing/2014/main" id="{367E4882-8A21-4997-ADA7-8CF17BA77C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grpFill/>
            <a:ln w="0">
              <a:solidFill>
                <a:schemeClr val="accent6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Freeform 215">
              <a:extLst>
                <a:ext uri="{FF2B5EF4-FFF2-40B4-BE49-F238E27FC236}">
                  <a16:creationId xmlns:a16="http://schemas.microsoft.com/office/drawing/2014/main" id="{258771C8-9D1A-4E56-8E1D-64506C6F4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9797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0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15">
              <a:extLst>
                <a:ext uri="{FF2B5EF4-FFF2-40B4-BE49-F238E27FC236}">
                  <a16:creationId xmlns:a16="http://schemas.microsoft.com/office/drawing/2014/main" id="{AB31DE87-61FC-4C85-8F17-541AA3949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6" y="3491051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chemeClr val="accent6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15">
              <a:extLst>
                <a:ext uri="{FF2B5EF4-FFF2-40B4-BE49-F238E27FC236}">
                  <a16:creationId xmlns:a16="http://schemas.microsoft.com/office/drawing/2014/main" id="{1F70C58A-3FBE-4F12-BA97-B9B9BA25E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5" y="358396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8" name="Group 331">
            <a:extLst>
              <a:ext uri="{FF2B5EF4-FFF2-40B4-BE49-F238E27FC236}">
                <a16:creationId xmlns:a16="http://schemas.microsoft.com/office/drawing/2014/main" id="{3009E7D5-444B-43C5-BA28-40624CFD2F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33650" y="3150547"/>
            <a:ext cx="645654" cy="648136"/>
            <a:chOff x="3628" y="1334"/>
            <a:chExt cx="340" cy="340"/>
          </a:xfrm>
          <a:solidFill>
            <a:schemeClr val="accent1"/>
          </a:solidFill>
        </p:grpSpPr>
        <p:sp>
          <p:nvSpPr>
            <p:cNvPr id="19" name="Freeform 332">
              <a:extLst>
                <a:ext uri="{FF2B5EF4-FFF2-40B4-BE49-F238E27FC236}">
                  <a16:creationId xmlns:a16="http://schemas.microsoft.com/office/drawing/2014/main" id="{85E435BF-E960-40C0-85D4-E4D57B63F7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333">
              <a:extLst>
                <a:ext uri="{FF2B5EF4-FFF2-40B4-BE49-F238E27FC236}">
                  <a16:creationId xmlns:a16="http://schemas.microsoft.com/office/drawing/2014/main" id="{C827AAA0-71CB-41F9-8F4A-E414B50D00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A6F012A-415D-4642-B95F-C827EBDFE52A}"/>
              </a:ext>
            </a:extLst>
          </p:cNvPr>
          <p:cNvCxnSpPr>
            <a:cxnSpLocks/>
          </p:cNvCxnSpPr>
          <p:nvPr/>
        </p:nvCxnSpPr>
        <p:spPr>
          <a:xfrm>
            <a:off x="5764586" y="3442512"/>
            <a:ext cx="122100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5B94503B-0317-4FD9-8535-900107FC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241" y="2890707"/>
            <a:ext cx="568671" cy="103744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B5AE236-4E05-4800-A22E-234D4D7B994F}"/>
              </a:ext>
            </a:extLst>
          </p:cNvPr>
          <p:cNvCxnSpPr>
            <a:cxnSpLocks/>
          </p:cNvCxnSpPr>
          <p:nvPr/>
        </p:nvCxnSpPr>
        <p:spPr>
          <a:xfrm>
            <a:off x="2851805" y="3474615"/>
            <a:ext cx="122100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88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ACED201-E717-49C7-979E-5E2EF77BBE62}"/>
              </a:ext>
            </a:extLst>
          </p:cNvPr>
          <p:cNvGrpSpPr/>
          <p:nvPr/>
        </p:nvGrpSpPr>
        <p:grpSpPr>
          <a:xfrm>
            <a:off x="2491149" y="3276600"/>
            <a:ext cx="3844202" cy="1032423"/>
            <a:chOff x="1261198" y="2929977"/>
            <a:chExt cx="5797398" cy="169285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1045CE1-7415-40BD-8119-25F0FDA5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1198" y="2929977"/>
              <a:ext cx="1573354" cy="169285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8B5F98-9F65-4B76-BA8A-69B1394A3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6437" y="3600284"/>
              <a:ext cx="1005752" cy="65722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E3037A-0EDB-48DC-A564-1B930CDB5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64076" y="3234105"/>
              <a:ext cx="594520" cy="1084594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2C905E6-054F-4714-AB85-A9C0ED8970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4552" y="3554698"/>
              <a:ext cx="340114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CA47188-EE7E-45C1-BAC9-335DA61D56E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521915" y="1059181"/>
            <a:ext cx="3644900" cy="132588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565945-76E0-49F3-B46B-A16455DABBA8}"/>
              </a:ext>
            </a:extLst>
          </p:cNvPr>
          <p:cNvCxnSpPr>
            <a:cxnSpLocks/>
          </p:cNvCxnSpPr>
          <p:nvPr/>
        </p:nvCxnSpPr>
        <p:spPr>
          <a:xfrm>
            <a:off x="3581400" y="4114800"/>
            <a:ext cx="2208296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53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994DAC-8664-457F-ABC1-D4E1F7C7C4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7"/>
          <a:stretch/>
        </p:blipFill>
        <p:spPr>
          <a:xfrm>
            <a:off x="4126133" y="1010602"/>
            <a:ext cx="2971801" cy="9810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559C7E-6487-4222-B5A2-81918AAF91B6}"/>
              </a:ext>
            </a:extLst>
          </p:cNvPr>
          <p:cNvPicPr/>
          <p:nvPr/>
        </p:nvPicPr>
        <p:blipFill rotWithShape="1">
          <a:blip r:embed="rId3"/>
          <a:srcRect r="41026"/>
          <a:stretch/>
        </p:blipFill>
        <p:spPr>
          <a:xfrm>
            <a:off x="1219201" y="2623185"/>
            <a:ext cx="3505199" cy="1554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140C87-E35C-4534-B29F-61377B460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08" y="471487"/>
            <a:ext cx="3533775" cy="1838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57FE32-C9F8-4A2E-926C-865205246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25" y="1359216"/>
            <a:ext cx="371475" cy="314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AD0D2C-273F-49CD-8D0A-0078DD12677F}"/>
              </a:ext>
            </a:extLst>
          </p:cNvPr>
          <p:cNvPicPr/>
          <p:nvPr/>
        </p:nvPicPr>
        <p:blipFill rotWithShape="1">
          <a:blip r:embed="rId6"/>
          <a:srcRect l="26468" r="27539"/>
          <a:stretch/>
        </p:blipFill>
        <p:spPr>
          <a:xfrm>
            <a:off x="4724399" y="2895600"/>
            <a:ext cx="1676401" cy="132588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0FEF08-35FE-40F1-812C-84826E33B755}"/>
              </a:ext>
            </a:extLst>
          </p:cNvPr>
          <p:cNvCxnSpPr>
            <a:cxnSpLocks/>
          </p:cNvCxnSpPr>
          <p:nvPr/>
        </p:nvCxnSpPr>
        <p:spPr>
          <a:xfrm flipH="1">
            <a:off x="4732972" y="3200400"/>
            <a:ext cx="1439228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23638B53-E752-483E-A126-F801C2BB2FDD}"/>
              </a:ext>
            </a:extLst>
          </p:cNvPr>
          <p:cNvPicPr/>
          <p:nvPr/>
        </p:nvPicPr>
        <p:blipFill rotWithShape="1">
          <a:blip r:embed="rId3"/>
          <a:srcRect l="24918" t="27328" r="68271" b="50317"/>
          <a:stretch/>
        </p:blipFill>
        <p:spPr>
          <a:xfrm>
            <a:off x="5334000" y="3233896"/>
            <a:ext cx="404812" cy="347502"/>
          </a:xfrm>
          <a:prstGeom prst="rect">
            <a:avLst/>
          </a:prstGeom>
        </p:spPr>
      </p:pic>
      <p:pic>
        <p:nvPicPr>
          <p:cNvPr id="17" name="Picture 6" descr="https://lh6.googleusercontent.com/shJmafup30eExJPHGu79i60nrOfYsEQmQi_JMWu40pl89QLagPUOMyUKkcU7ltjoNnsae-mIBOOd-OPdk3XDzxYcbEvz4s74AjfCq6tU3liyYCyQe0EExmv3-11ZlAKrxfkye7fEho4">
            <a:extLst>
              <a:ext uri="{FF2B5EF4-FFF2-40B4-BE49-F238E27FC236}">
                <a16:creationId xmlns:a16="http://schemas.microsoft.com/office/drawing/2014/main" id="{CE66A24A-14E6-4477-A96F-75436747D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97" t="27350" r="1887" b="42108"/>
          <a:stretch/>
        </p:blipFill>
        <p:spPr bwMode="auto">
          <a:xfrm>
            <a:off x="6409372" y="2971800"/>
            <a:ext cx="425435" cy="85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43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B35C-31FC-84E9-7C07-1E7230CB1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877575-3126-2BE5-B396-32CE297B1430}"/>
              </a:ext>
            </a:extLst>
          </p:cNvPr>
          <p:cNvPicPr/>
          <p:nvPr/>
        </p:nvPicPr>
        <p:blipFill rotWithShape="1">
          <a:blip r:embed="rId3"/>
          <a:srcRect r="41026"/>
          <a:stretch/>
        </p:blipFill>
        <p:spPr>
          <a:xfrm>
            <a:off x="1676402" y="2775585"/>
            <a:ext cx="3505199" cy="15544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577365-73A2-40DF-BFD1-DC892FDC3E33}"/>
              </a:ext>
            </a:extLst>
          </p:cNvPr>
          <p:cNvPicPr/>
          <p:nvPr/>
        </p:nvPicPr>
        <p:blipFill rotWithShape="1">
          <a:blip r:embed="rId4"/>
          <a:srcRect l="26468" r="27539"/>
          <a:stretch/>
        </p:blipFill>
        <p:spPr>
          <a:xfrm>
            <a:off x="5181600" y="3048000"/>
            <a:ext cx="1676401" cy="132588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23F141-93B1-C0C4-D4C7-24203BB4F5C3}"/>
              </a:ext>
            </a:extLst>
          </p:cNvPr>
          <p:cNvCxnSpPr>
            <a:cxnSpLocks/>
          </p:cNvCxnSpPr>
          <p:nvPr/>
        </p:nvCxnSpPr>
        <p:spPr>
          <a:xfrm flipH="1">
            <a:off x="5190173" y="3352800"/>
            <a:ext cx="1439228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5292201-2C40-CE4A-4FB0-84052BD9CAAC}"/>
              </a:ext>
            </a:extLst>
          </p:cNvPr>
          <p:cNvPicPr/>
          <p:nvPr/>
        </p:nvPicPr>
        <p:blipFill rotWithShape="1">
          <a:blip r:embed="rId3"/>
          <a:srcRect l="24918" t="27328" r="68271" b="50317"/>
          <a:stretch/>
        </p:blipFill>
        <p:spPr>
          <a:xfrm>
            <a:off x="5791201" y="3386296"/>
            <a:ext cx="404812" cy="347502"/>
          </a:xfrm>
          <a:prstGeom prst="rect">
            <a:avLst/>
          </a:prstGeom>
        </p:spPr>
      </p:pic>
      <p:pic>
        <p:nvPicPr>
          <p:cNvPr id="17" name="Picture 6" descr="https://lh6.googleusercontent.com/shJmafup30eExJPHGu79i60nrOfYsEQmQi_JMWu40pl89QLagPUOMyUKkcU7ltjoNnsae-mIBOOd-OPdk3XDzxYcbEvz4s74AjfCq6tU3liyYCyQe0EExmv3-11ZlAKrxfkye7fEho4">
            <a:extLst>
              <a:ext uri="{FF2B5EF4-FFF2-40B4-BE49-F238E27FC236}">
                <a16:creationId xmlns:a16="http://schemas.microsoft.com/office/drawing/2014/main" id="{7296094D-8F2D-D463-6459-4BDB692CF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97" t="27350" r="1887" b="42108"/>
          <a:stretch/>
        </p:blipFill>
        <p:spPr bwMode="auto">
          <a:xfrm>
            <a:off x="6866573" y="3124200"/>
            <a:ext cx="425435" cy="85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457C2D-B6E0-BA10-9978-298ACE0CD832}"/>
              </a:ext>
            </a:extLst>
          </p:cNvPr>
          <p:cNvSpPr txBox="1"/>
          <p:nvPr/>
        </p:nvSpPr>
        <p:spPr>
          <a:xfrm>
            <a:off x="838200" y="1570672"/>
            <a:ext cx="33752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Allergy to peanuts - reaction hives</a:t>
            </a:r>
            <a:br>
              <a:rPr lang="en-US" sz="1800" dirty="0">
                <a:solidFill>
                  <a:srgbClr val="000000"/>
                </a:solidFill>
                <a:latin typeface="+mn-lt"/>
              </a:rPr>
            </a:br>
            <a:r>
              <a:rPr lang="en-US" sz="1800" dirty="0">
                <a:solidFill>
                  <a:srgbClr val="000000"/>
                </a:solidFill>
                <a:latin typeface="+mn-lt"/>
              </a:rPr>
              <a:t>Author: Dr. Jones</a:t>
            </a:r>
            <a:br>
              <a:rPr lang="en-US" sz="1800" dirty="0">
                <a:solidFill>
                  <a:srgbClr val="000000"/>
                </a:solidFill>
                <a:latin typeface="+mn-lt"/>
              </a:rPr>
            </a:br>
            <a:r>
              <a:rPr lang="en-US" sz="1800" dirty="0">
                <a:solidFill>
                  <a:srgbClr val="000000"/>
                </a:solidFill>
                <a:latin typeface="+mn-lt"/>
              </a:rPr>
              <a:t>Organization: Good Health</a:t>
            </a:r>
            <a:endParaRPr lang="en-US" sz="1800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Date: 1/2018</a:t>
            </a:r>
            <a:endParaRPr lang="en-US" sz="1800" dirty="0">
              <a:latin typeface="+mn-lt"/>
            </a:endParaRP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61AFCF-60A6-A794-8C62-79EA733DE26A}"/>
              </a:ext>
            </a:extLst>
          </p:cNvPr>
          <p:cNvSpPr txBox="1"/>
          <p:nvPr/>
        </p:nvSpPr>
        <p:spPr>
          <a:xfrm>
            <a:off x="4793290" y="4550782"/>
            <a:ext cx="38173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Allergy to peanuts - reaction hives</a:t>
            </a:r>
            <a:br>
              <a:rPr lang="en-US" sz="1800" dirty="0">
                <a:solidFill>
                  <a:srgbClr val="000000"/>
                </a:solidFill>
                <a:latin typeface="+mn-lt"/>
              </a:rPr>
            </a:br>
            <a:r>
              <a:rPr lang="en-US" sz="1800" dirty="0">
                <a:solidFill>
                  <a:srgbClr val="000000"/>
                </a:solidFill>
                <a:latin typeface="+mn-lt"/>
              </a:rPr>
              <a:t>Author: Dr. Jones</a:t>
            </a:r>
            <a:br>
              <a:rPr lang="en-US" sz="1800" dirty="0">
                <a:solidFill>
                  <a:srgbClr val="000000"/>
                </a:solidFill>
                <a:latin typeface="+mn-lt"/>
              </a:rPr>
            </a:br>
            <a:r>
              <a:rPr lang="en-US" sz="1800" dirty="0">
                <a:solidFill>
                  <a:srgbClr val="000000"/>
                </a:solidFill>
                <a:latin typeface="+mn-lt"/>
              </a:rPr>
              <a:t>Organization: Good Health</a:t>
            </a:r>
            <a:endParaRPr lang="en-US" sz="1800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Date: 1/2018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8580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F480-7119-5AC2-1A01-47CF4C18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ABEE2A-80A9-1BE2-D1AC-2717B9C1249A}"/>
              </a:ext>
            </a:extLst>
          </p:cNvPr>
          <p:cNvPicPr/>
          <p:nvPr/>
        </p:nvPicPr>
        <p:blipFill rotWithShape="1">
          <a:blip r:embed="rId3"/>
          <a:srcRect r="41026"/>
          <a:stretch/>
        </p:blipFill>
        <p:spPr>
          <a:xfrm>
            <a:off x="1676402" y="2775585"/>
            <a:ext cx="3505199" cy="15544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28144F-4135-DA2A-0856-306451D07FF3}"/>
              </a:ext>
            </a:extLst>
          </p:cNvPr>
          <p:cNvPicPr/>
          <p:nvPr/>
        </p:nvPicPr>
        <p:blipFill rotWithShape="1">
          <a:blip r:embed="rId4"/>
          <a:srcRect l="26468" r="27539"/>
          <a:stretch/>
        </p:blipFill>
        <p:spPr>
          <a:xfrm>
            <a:off x="5181600" y="3048000"/>
            <a:ext cx="1676401" cy="132588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AD6223B-D04B-D1AD-2A5E-70E42B13FCCA}"/>
              </a:ext>
            </a:extLst>
          </p:cNvPr>
          <p:cNvCxnSpPr>
            <a:cxnSpLocks/>
          </p:cNvCxnSpPr>
          <p:nvPr/>
        </p:nvCxnSpPr>
        <p:spPr>
          <a:xfrm flipH="1">
            <a:off x="5190173" y="3352800"/>
            <a:ext cx="1439228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B3CD50F-AB01-9DE3-24FF-BAF38235F2BD}"/>
              </a:ext>
            </a:extLst>
          </p:cNvPr>
          <p:cNvPicPr/>
          <p:nvPr/>
        </p:nvPicPr>
        <p:blipFill rotWithShape="1">
          <a:blip r:embed="rId3"/>
          <a:srcRect l="24918" t="27328" r="68271" b="50317"/>
          <a:stretch/>
        </p:blipFill>
        <p:spPr>
          <a:xfrm>
            <a:off x="5791201" y="3386296"/>
            <a:ext cx="404812" cy="347502"/>
          </a:xfrm>
          <a:prstGeom prst="rect">
            <a:avLst/>
          </a:prstGeom>
        </p:spPr>
      </p:pic>
      <p:pic>
        <p:nvPicPr>
          <p:cNvPr id="17" name="Picture 6" descr="https://lh6.googleusercontent.com/shJmafup30eExJPHGu79i60nrOfYsEQmQi_JMWu40pl89QLagPUOMyUKkcU7ltjoNnsae-mIBOOd-OPdk3XDzxYcbEvz4s74AjfCq6tU3liyYCyQe0EExmv3-11ZlAKrxfkye7fEho4">
            <a:extLst>
              <a:ext uri="{FF2B5EF4-FFF2-40B4-BE49-F238E27FC236}">
                <a16:creationId xmlns:a16="http://schemas.microsoft.com/office/drawing/2014/main" id="{EFCD78F8-F40B-7504-4366-F065095582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97" t="27350" r="1887" b="42108"/>
          <a:stretch/>
        </p:blipFill>
        <p:spPr bwMode="auto">
          <a:xfrm>
            <a:off x="6866573" y="3124200"/>
            <a:ext cx="425435" cy="85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4DCFF5-89D8-F5F6-9B20-A7DB69BFA14F}"/>
              </a:ext>
            </a:extLst>
          </p:cNvPr>
          <p:cNvSpPr txBox="1"/>
          <p:nvPr/>
        </p:nvSpPr>
        <p:spPr>
          <a:xfrm>
            <a:off x="838200" y="1570672"/>
            <a:ext cx="3375219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00"/>
                </a:solidFill>
                <a:latin typeface="+mn-lt"/>
              </a:rPr>
              <a:t>HL7 V2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Allergy to peanuts - reaction hives</a:t>
            </a:r>
            <a:br>
              <a:rPr lang="en-US" sz="1800" dirty="0">
                <a:solidFill>
                  <a:srgbClr val="000000"/>
                </a:solidFill>
                <a:latin typeface="+mn-lt"/>
              </a:rPr>
            </a:br>
            <a:r>
              <a:rPr lang="en-US" sz="1800" dirty="0">
                <a:solidFill>
                  <a:srgbClr val="000000"/>
                </a:solidFill>
                <a:latin typeface="+mn-lt"/>
              </a:rPr>
              <a:t>Author: Dr. Jones</a:t>
            </a:r>
            <a:br>
              <a:rPr lang="en-US" sz="1800" dirty="0">
                <a:solidFill>
                  <a:srgbClr val="000000"/>
                </a:solidFill>
                <a:latin typeface="+mn-lt"/>
              </a:rPr>
            </a:br>
            <a:r>
              <a:rPr lang="en-US" sz="1800" dirty="0">
                <a:solidFill>
                  <a:srgbClr val="000000"/>
                </a:solidFill>
                <a:latin typeface="+mn-lt"/>
              </a:rPr>
              <a:t>Organization: Good Health</a:t>
            </a:r>
            <a:endParaRPr lang="en-US" sz="1800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Date: 1/2018</a:t>
            </a:r>
            <a:endParaRPr lang="en-US" sz="1800" dirty="0">
              <a:latin typeface="+mn-lt"/>
            </a:endParaRP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6F707E-6733-057D-386A-39DE9DB0F719}"/>
              </a:ext>
            </a:extLst>
          </p:cNvPr>
          <p:cNvSpPr txBox="1"/>
          <p:nvPr/>
        </p:nvSpPr>
        <p:spPr>
          <a:xfrm>
            <a:off x="4793290" y="4550782"/>
            <a:ext cx="38173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Allergy to peanuts - reaction hives</a:t>
            </a:r>
            <a:br>
              <a:rPr lang="en-US" sz="1800" dirty="0">
                <a:solidFill>
                  <a:srgbClr val="000000"/>
                </a:solidFill>
                <a:latin typeface="+mn-lt"/>
              </a:rPr>
            </a:br>
            <a:r>
              <a:rPr lang="en-US" sz="1800" dirty="0">
                <a:solidFill>
                  <a:srgbClr val="000000"/>
                </a:solidFill>
                <a:latin typeface="+mn-lt"/>
              </a:rPr>
              <a:t>Author: Dr. Jones</a:t>
            </a:r>
            <a:br>
              <a:rPr lang="en-US" sz="1800" dirty="0">
                <a:solidFill>
                  <a:srgbClr val="000000"/>
                </a:solidFill>
                <a:latin typeface="+mn-lt"/>
              </a:rPr>
            </a:br>
            <a:r>
              <a:rPr lang="en-US" sz="1800" dirty="0">
                <a:solidFill>
                  <a:srgbClr val="000000"/>
                </a:solidFill>
                <a:latin typeface="+mn-lt"/>
              </a:rPr>
              <a:t>Organization: Good Health</a:t>
            </a:r>
            <a:endParaRPr lang="en-US" sz="1800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Date: 1/2018</a:t>
            </a:r>
            <a:endParaRPr lang="en-US" sz="1800" dirty="0">
              <a:latin typeface="+mn-lt"/>
            </a:endParaRPr>
          </a:p>
        </p:txBody>
      </p:sp>
      <p:pic>
        <p:nvPicPr>
          <p:cNvPr id="1028" name="Picture 4" descr="Visit the FHIR website">
            <a:extLst>
              <a:ext uri="{FF2B5EF4-FFF2-40B4-BE49-F238E27FC236}">
                <a16:creationId xmlns:a16="http://schemas.microsoft.com/office/drawing/2014/main" id="{E4DBA56D-1CE9-168F-51B1-15330524E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267200"/>
            <a:ext cx="1171566" cy="28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72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294E73C5-5264-4AFC-8F78-084E87D4B0FE}"/>
              </a:ext>
            </a:extLst>
          </p:cNvPr>
          <p:cNvPicPr/>
          <p:nvPr/>
        </p:nvPicPr>
        <p:blipFill rotWithShape="1">
          <a:blip r:embed="rId2"/>
          <a:srcRect l="26468" t="54023" r="27539" b="37467"/>
          <a:stretch/>
        </p:blipFill>
        <p:spPr>
          <a:xfrm>
            <a:off x="4152900" y="3316169"/>
            <a:ext cx="1676401" cy="112832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7891B33-8E1F-49F3-9AA3-065A8F8EFFDD}"/>
              </a:ext>
            </a:extLst>
          </p:cNvPr>
          <p:cNvCxnSpPr>
            <a:cxnSpLocks/>
          </p:cNvCxnSpPr>
          <p:nvPr/>
        </p:nvCxnSpPr>
        <p:spPr>
          <a:xfrm flipH="1">
            <a:off x="4195286" y="2681807"/>
            <a:ext cx="1439228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6" descr="https://lh6.googleusercontent.com/shJmafup30eExJPHGu79i60nrOfYsEQmQi_JMWu40pl89QLagPUOMyUKkcU7ltjoNnsae-mIBOOd-OPdk3XDzxYcbEvz4s74AjfCq6tU3liyYCyQe0EExmv3-11ZlAKrxfkye7fEho4">
            <a:extLst>
              <a:ext uri="{FF2B5EF4-FFF2-40B4-BE49-F238E27FC236}">
                <a16:creationId xmlns:a16="http://schemas.microsoft.com/office/drawing/2014/main" id="{4FE5D587-137B-498C-8B12-FD4CCB34EE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97" t="27350" r="1887" b="42108"/>
          <a:stretch/>
        </p:blipFill>
        <p:spPr bwMode="auto">
          <a:xfrm>
            <a:off x="5791200" y="2577465"/>
            <a:ext cx="425435" cy="85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91" descr="A close up of a logo&#10;&#10;Description automatically generated">
            <a:extLst>
              <a:ext uri="{FF2B5EF4-FFF2-40B4-BE49-F238E27FC236}">
                <a16:creationId xmlns:a16="http://schemas.microsoft.com/office/drawing/2014/main" id="{1BF307B7-5696-4B84-B355-C30CC60165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37" r="14293" b="52834"/>
          <a:stretch/>
        </p:blipFill>
        <p:spPr>
          <a:xfrm>
            <a:off x="4572000" y="2681807"/>
            <a:ext cx="685800" cy="609600"/>
          </a:xfrm>
          <a:prstGeom prst="rect">
            <a:avLst/>
          </a:prstGeom>
        </p:spPr>
      </p:pic>
      <p:pic>
        <p:nvPicPr>
          <p:cNvPr id="93" name="Picture 92" descr="A close up of a logo&#10;&#10;Description automatically generated">
            <a:extLst>
              <a:ext uri="{FF2B5EF4-FFF2-40B4-BE49-F238E27FC236}">
                <a16:creationId xmlns:a16="http://schemas.microsoft.com/office/drawing/2014/main" id="{58794699-6454-49AB-AED4-E28CD2FB28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934"/>
          <a:stretch/>
        </p:blipFill>
        <p:spPr>
          <a:xfrm>
            <a:off x="1447800" y="2340375"/>
            <a:ext cx="2819400" cy="12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6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294E73C5-5264-4AFC-8F78-084E87D4B0FE}"/>
              </a:ext>
            </a:extLst>
          </p:cNvPr>
          <p:cNvPicPr/>
          <p:nvPr/>
        </p:nvPicPr>
        <p:blipFill rotWithShape="1">
          <a:blip r:embed="rId2"/>
          <a:srcRect l="26468" t="54023" r="27539" b="37467"/>
          <a:stretch/>
        </p:blipFill>
        <p:spPr>
          <a:xfrm>
            <a:off x="4990151" y="3148962"/>
            <a:ext cx="1676401" cy="112832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7891B33-8E1F-49F3-9AA3-065A8F8EFFDD}"/>
              </a:ext>
            </a:extLst>
          </p:cNvPr>
          <p:cNvCxnSpPr>
            <a:cxnSpLocks/>
          </p:cNvCxnSpPr>
          <p:nvPr/>
        </p:nvCxnSpPr>
        <p:spPr>
          <a:xfrm flipH="1">
            <a:off x="5032537" y="2514600"/>
            <a:ext cx="1439228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6" descr="https://lh6.googleusercontent.com/shJmafup30eExJPHGu79i60nrOfYsEQmQi_JMWu40pl89QLagPUOMyUKkcU7ltjoNnsae-mIBOOd-OPdk3XDzxYcbEvz4s74AjfCq6tU3liyYCyQe0EExmv3-11ZlAKrxfkye7fEho4">
            <a:extLst>
              <a:ext uri="{FF2B5EF4-FFF2-40B4-BE49-F238E27FC236}">
                <a16:creationId xmlns:a16="http://schemas.microsoft.com/office/drawing/2014/main" id="{4FE5D587-137B-498C-8B12-FD4CCB34EE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97" t="27350" r="1887" b="42108"/>
          <a:stretch/>
        </p:blipFill>
        <p:spPr bwMode="auto">
          <a:xfrm>
            <a:off x="6628451" y="2410258"/>
            <a:ext cx="425435" cy="85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91" descr="A close up of a logo&#10;&#10;Description automatically generated">
            <a:extLst>
              <a:ext uri="{FF2B5EF4-FFF2-40B4-BE49-F238E27FC236}">
                <a16:creationId xmlns:a16="http://schemas.microsoft.com/office/drawing/2014/main" id="{1BF307B7-5696-4B84-B355-C30CC60165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37" r="14293" b="52834"/>
          <a:stretch/>
        </p:blipFill>
        <p:spPr>
          <a:xfrm>
            <a:off x="5409251" y="2514600"/>
            <a:ext cx="685800" cy="609600"/>
          </a:xfrm>
          <a:prstGeom prst="rect">
            <a:avLst/>
          </a:prstGeom>
        </p:spPr>
      </p:pic>
      <p:pic>
        <p:nvPicPr>
          <p:cNvPr id="93" name="Picture 92" descr="A close up of a logo&#10;&#10;Description automatically generated">
            <a:extLst>
              <a:ext uri="{FF2B5EF4-FFF2-40B4-BE49-F238E27FC236}">
                <a16:creationId xmlns:a16="http://schemas.microsoft.com/office/drawing/2014/main" id="{58794699-6454-49AB-AED4-E28CD2FB28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3"/>
          <a:stretch/>
        </p:blipFill>
        <p:spPr>
          <a:xfrm>
            <a:off x="1755937" y="2111775"/>
            <a:ext cx="1600200" cy="1292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A33E71-4EA8-6E45-D896-70E2DED2713D}"/>
              </a:ext>
            </a:extLst>
          </p:cNvPr>
          <p:cNvSpPr txBox="1"/>
          <p:nvPr/>
        </p:nvSpPr>
        <p:spPr>
          <a:xfrm>
            <a:off x="3706395" y="2704385"/>
            <a:ext cx="833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 Black" panose="020B0A04020102020204" pitchFamily="34" charset="0"/>
              </a:rPr>
              <a:t>Payer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6" name="Callout: Quad Arrow 5">
            <a:extLst>
              <a:ext uri="{FF2B5EF4-FFF2-40B4-BE49-F238E27FC236}">
                <a16:creationId xmlns:a16="http://schemas.microsoft.com/office/drawing/2014/main" id="{B9001987-CFF3-4045-9B59-72035C29FC9E}"/>
              </a:ext>
            </a:extLst>
          </p:cNvPr>
          <p:cNvSpPr/>
          <p:nvPr/>
        </p:nvSpPr>
        <p:spPr>
          <a:xfrm>
            <a:off x="3429000" y="2209800"/>
            <a:ext cx="1374938" cy="1327724"/>
          </a:xfrm>
          <a:prstGeom prst="quadArrow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43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https://lh6.googleusercontent.com/shJmafup30eExJPHGu79i60nrOfYsEQmQi_JMWu40pl89QLagPUOMyUKkcU7ltjoNnsae-mIBOOd-OPdk3XDzxYcbEvz4s74AjfCq6tU3liyYCyQe0EExmv3-11ZlAKrxfkye7fEho4">
            <a:extLst>
              <a:ext uri="{FF2B5EF4-FFF2-40B4-BE49-F238E27FC236}">
                <a16:creationId xmlns:a16="http://schemas.microsoft.com/office/drawing/2014/main" id="{9057A401-A0AA-D69B-4322-4205D7FDAD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97" t="27350" r="1887" b="42108"/>
          <a:stretch/>
        </p:blipFill>
        <p:spPr bwMode="auto">
          <a:xfrm>
            <a:off x="4291814" y="344332"/>
            <a:ext cx="425435" cy="85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331">
            <a:extLst>
              <a:ext uri="{FF2B5EF4-FFF2-40B4-BE49-F238E27FC236}">
                <a16:creationId xmlns:a16="http://schemas.microsoft.com/office/drawing/2014/main" id="{68482963-E116-A4AF-472A-4217584B843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16650" y="304800"/>
            <a:ext cx="993405" cy="993405"/>
            <a:chOff x="3628" y="1334"/>
            <a:chExt cx="340" cy="340"/>
          </a:xfrm>
          <a:solidFill>
            <a:schemeClr val="accent6">
              <a:lumMod val="50000"/>
            </a:schemeClr>
          </a:solidFill>
        </p:grpSpPr>
        <p:sp>
          <p:nvSpPr>
            <p:cNvPr id="4" name="Freeform 332">
              <a:extLst>
                <a:ext uri="{FF2B5EF4-FFF2-40B4-BE49-F238E27FC236}">
                  <a16:creationId xmlns:a16="http://schemas.microsoft.com/office/drawing/2014/main" id="{D59A79A6-DED2-EBE8-F7C3-9C5E4EF17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Freeform 333">
              <a:extLst>
                <a:ext uri="{FF2B5EF4-FFF2-40B4-BE49-F238E27FC236}">
                  <a16:creationId xmlns:a16="http://schemas.microsoft.com/office/drawing/2014/main" id="{A72A10C2-52C7-C87C-34C0-EAE64F08F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C07CDD6-F1B8-E3CF-6BC6-8B7FA4DB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171" y="393119"/>
            <a:ext cx="1124242" cy="90508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00354E-59D2-3D67-6707-E1634B87B3B7}"/>
              </a:ext>
            </a:extLst>
          </p:cNvPr>
          <p:cNvCxnSpPr>
            <a:cxnSpLocks/>
          </p:cNvCxnSpPr>
          <p:nvPr/>
        </p:nvCxnSpPr>
        <p:spPr>
          <a:xfrm>
            <a:off x="2940050" y="799022"/>
            <a:ext cx="122100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DD77897-5F2C-9A3D-70D8-0412564A09F3}"/>
              </a:ext>
            </a:extLst>
          </p:cNvPr>
          <p:cNvGrpSpPr/>
          <p:nvPr/>
        </p:nvGrpSpPr>
        <p:grpSpPr>
          <a:xfrm>
            <a:off x="3321050" y="393119"/>
            <a:ext cx="335376" cy="252571"/>
            <a:chOff x="6204686" y="3153320"/>
            <a:chExt cx="898499" cy="616634"/>
          </a:xfrm>
          <a:solidFill>
            <a:schemeClr val="bg2">
              <a:lumMod val="90000"/>
            </a:schemeClr>
          </a:solidFill>
        </p:grpSpPr>
        <p:sp>
          <p:nvSpPr>
            <p:cNvPr id="14" name="Freeform 909">
              <a:extLst>
                <a:ext uri="{FF2B5EF4-FFF2-40B4-BE49-F238E27FC236}">
                  <a16:creationId xmlns:a16="http://schemas.microsoft.com/office/drawing/2014/main" id="{1FEE08CA-C1FF-01D8-5A72-634099E322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grpFill/>
            <a:ln w="0">
              <a:solidFill>
                <a:schemeClr val="accent6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Freeform 215">
              <a:extLst>
                <a:ext uri="{FF2B5EF4-FFF2-40B4-BE49-F238E27FC236}">
                  <a16:creationId xmlns:a16="http://schemas.microsoft.com/office/drawing/2014/main" id="{2A876D83-E3AF-FBF7-2688-33162F672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9797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0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15">
              <a:extLst>
                <a:ext uri="{FF2B5EF4-FFF2-40B4-BE49-F238E27FC236}">
                  <a16:creationId xmlns:a16="http://schemas.microsoft.com/office/drawing/2014/main" id="{9A9AA946-5B69-7CD9-0167-E3657FC5F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6" y="3491051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chemeClr val="accent6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37191C7-1973-285D-D5CF-D417FB0245DA}"/>
              </a:ext>
            </a:extLst>
          </p:cNvPr>
          <p:cNvSpPr txBox="1"/>
          <p:nvPr/>
        </p:nvSpPr>
        <p:spPr>
          <a:xfrm>
            <a:off x="654050" y="1524000"/>
            <a:ext cx="84582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Since no clinical content is changed in the mobile app redistribution (PHR), the best scenario is a Provenance Record with:</a:t>
            </a:r>
          </a:p>
          <a:p>
            <a:endParaRPr lang="en-US" sz="1400" b="1" dirty="0"/>
          </a:p>
          <a:p>
            <a:r>
              <a:rPr lang="en-US" sz="1400" b="1" dirty="0"/>
              <a:t>OPTION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= composer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Provenance.agent.who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set to the device that authored the content (i.e., BP device, not the app)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= assembler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Provenance.agent.who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set to the mobile app redistributing the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Provenance.agent.onBehalfOf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set to the Patient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/>
            <a:endParaRPr lang="en-US" sz="1400" dirty="0"/>
          </a:p>
          <a:p>
            <a:r>
              <a:rPr lang="en-US" sz="1400" b="1" dirty="0"/>
              <a:t>OPTION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Provenance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Observation.meta.system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http://www.fhir.org/guides/argonaut/argo-write/CodeSystem/tags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Observation.meta.value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uploaded-data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EE43C5-E270-257E-CF33-1003B79926AB}"/>
              </a:ext>
            </a:extLst>
          </p:cNvPr>
          <p:cNvCxnSpPr>
            <a:cxnSpLocks/>
          </p:cNvCxnSpPr>
          <p:nvPr/>
        </p:nvCxnSpPr>
        <p:spPr>
          <a:xfrm>
            <a:off x="4848006" y="810476"/>
            <a:ext cx="122100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5126A8D-911A-34DB-5002-83DFB516DD12}"/>
              </a:ext>
            </a:extLst>
          </p:cNvPr>
          <p:cNvGrpSpPr/>
          <p:nvPr/>
        </p:nvGrpSpPr>
        <p:grpSpPr>
          <a:xfrm>
            <a:off x="5229006" y="404573"/>
            <a:ext cx="335376" cy="252571"/>
            <a:chOff x="6204686" y="3153320"/>
            <a:chExt cx="898499" cy="616634"/>
          </a:xfrm>
          <a:solidFill>
            <a:schemeClr val="bg2">
              <a:lumMod val="90000"/>
            </a:schemeClr>
          </a:solidFill>
        </p:grpSpPr>
        <p:sp>
          <p:nvSpPr>
            <p:cNvPr id="26" name="Freeform 909">
              <a:extLst>
                <a:ext uri="{FF2B5EF4-FFF2-40B4-BE49-F238E27FC236}">
                  <a16:creationId xmlns:a16="http://schemas.microsoft.com/office/drawing/2014/main" id="{5A0FA04E-2131-CEF7-A205-C436E899FE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grpFill/>
            <a:ln w="0">
              <a:solidFill>
                <a:schemeClr val="accent6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Freeform 215">
              <a:extLst>
                <a:ext uri="{FF2B5EF4-FFF2-40B4-BE49-F238E27FC236}">
                  <a16:creationId xmlns:a16="http://schemas.microsoft.com/office/drawing/2014/main" id="{718F388B-0290-FC72-2A85-0BEB5B68F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9797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0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15">
              <a:extLst>
                <a:ext uri="{FF2B5EF4-FFF2-40B4-BE49-F238E27FC236}">
                  <a16:creationId xmlns:a16="http://schemas.microsoft.com/office/drawing/2014/main" id="{BF633A70-FF6C-E5B1-C042-40FA3F21F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6" y="3491051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chemeClr val="accent6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15">
              <a:extLst>
                <a:ext uri="{FF2B5EF4-FFF2-40B4-BE49-F238E27FC236}">
                  <a16:creationId xmlns:a16="http://schemas.microsoft.com/office/drawing/2014/main" id="{73F73FBC-86AF-D1D8-5542-BAD3574AB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5" y="358396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25419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https://lh6.googleusercontent.com/shJmafup30eExJPHGu79i60nrOfYsEQmQi_JMWu40pl89QLagPUOMyUKkcU7ltjoNnsae-mIBOOd-OPdk3XDzxYcbEvz4s74AjfCq6tU3liyYCyQe0EExmv3-11ZlAKrxfkye7fEho4">
            <a:extLst>
              <a:ext uri="{FF2B5EF4-FFF2-40B4-BE49-F238E27FC236}">
                <a16:creationId xmlns:a16="http://schemas.microsoft.com/office/drawing/2014/main" id="{9057A401-A0AA-D69B-4322-4205D7FDAD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97" t="27350" r="1887" b="42108"/>
          <a:stretch/>
        </p:blipFill>
        <p:spPr bwMode="auto">
          <a:xfrm>
            <a:off x="4247364" y="1944532"/>
            <a:ext cx="425435" cy="85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331">
            <a:extLst>
              <a:ext uri="{FF2B5EF4-FFF2-40B4-BE49-F238E27FC236}">
                <a16:creationId xmlns:a16="http://schemas.microsoft.com/office/drawing/2014/main" id="{68482963-E116-A4AF-472A-4217584B843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72200" y="1905000"/>
            <a:ext cx="993405" cy="993405"/>
            <a:chOff x="3628" y="1334"/>
            <a:chExt cx="340" cy="340"/>
          </a:xfrm>
          <a:solidFill>
            <a:schemeClr val="accent6">
              <a:lumMod val="50000"/>
            </a:schemeClr>
          </a:solidFill>
        </p:grpSpPr>
        <p:sp>
          <p:nvSpPr>
            <p:cNvPr id="4" name="Freeform 332">
              <a:extLst>
                <a:ext uri="{FF2B5EF4-FFF2-40B4-BE49-F238E27FC236}">
                  <a16:creationId xmlns:a16="http://schemas.microsoft.com/office/drawing/2014/main" id="{D59A79A6-DED2-EBE8-F7C3-9C5E4EF17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Freeform 333">
              <a:extLst>
                <a:ext uri="{FF2B5EF4-FFF2-40B4-BE49-F238E27FC236}">
                  <a16:creationId xmlns:a16="http://schemas.microsoft.com/office/drawing/2014/main" id="{A72A10C2-52C7-C87C-34C0-EAE64F08F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00354E-59D2-3D67-6707-E1634B87B3B7}"/>
              </a:ext>
            </a:extLst>
          </p:cNvPr>
          <p:cNvCxnSpPr>
            <a:cxnSpLocks/>
          </p:cNvCxnSpPr>
          <p:nvPr/>
        </p:nvCxnSpPr>
        <p:spPr>
          <a:xfrm>
            <a:off x="2895600" y="2399222"/>
            <a:ext cx="122100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37191C7-1973-285D-D5CF-D417FB0245DA}"/>
              </a:ext>
            </a:extLst>
          </p:cNvPr>
          <p:cNvSpPr txBox="1"/>
          <p:nvPr/>
        </p:nvSpPr>
        <p:spPr>
          <a:xfrm>
            <a:off x="533400" y="3200400"/>
            <a:ext cx="8458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333333"/>
                </a:solidFill>
                <a:effectLst/>
                <a:latin typeface="-apple-system"/>
              </a:rPr>
              <a:t>No Provenance information included from the </a:t>
            </a:r>
            <a:r>
              <a:rPr lang="en-US" sz="1400" dirty="0"/>
              <a:t>mobile app redistribution (PHR):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= author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Provenance.agent.who.display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set to the provider org that provided the data to the mobile app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Provenance.agent.who.identifier.value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(optional)</a:t>
            </a:r>
            <a:r>
              <a:rPr lang="en-US" sz="1400" dirty="0" err="1">
                <a:latin typeface="+mn-lt"/>
                <a:cs typeface="Courier New" panose="02070309020205020404" pitchFamily="49" charset="0"/>
              </a:rPr>
              <a:t>url</a:t>
            </a:r>
            <a:r>
              <a:rPr lang="en-US" sz="1400" dirty="0">
                <a:latin typeface="+mn-lt"/>
                <a:cs typeface="Courier New" panose="02070309020205020404" pitchFamily="49" charset="0"/>
              </a:rPr>
              <a:t> of the provider org</a:t>
            </a:r>
            <a:endParaRPr lang="en-US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Provenanceagent.type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= transmitter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Provenance.agent.who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set to the Patient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FF00"/>
                </a:highlight>
              </a:rPr>
              <a:t>CONSIDER?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= assembler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Provenance.agent.who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set to the mobile app redistributing the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Provenance.agent.onBehalfOf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/>
              <a:t>set to the Patient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EE43C5-E270-257E-CF33-1003B79926AB}"/>
              </a:ext>
            </a:extLst>
          </p:cNvPr>
          <p:cNvCxnSpPr>
            <a:cxnSpLocks/>
          </p:cNvCxnSpPr>
          <p:nvPr/>
        </p:nvCxnSpPr>
        <p:spPr>
          <a:xfrm>
            <a:off x="4803556" y="2410676"/>
            <a:ext cx="122100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31">
            <a:extLst>
              <a:ext uri="{FF2B5EF4-FFF2-40B4-BE49-F238E27FC236}">
                <a16:creationId xmlns:a16="http://schemas.microsoft.com/office/drawing/2014/main" id="{5C92E278-C2DD-B9B2-CF40-80A4703E20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13901" y="1884548"/>
            <a:ext cx="993404" cy="993404"/>
            <a:chOff x="3628" y="1334"/>
            <a:chExt cx="340" cy="340"/>
          </a:xfrm>
          <a:solidFill>
            <a:srgbClr val="7030A0"/>
          </a:solidFill>
        </p:grpSpPr>
        <p:sp>
          <p:nvSpPr>
            <p:cNvPr id="10" name="Freeform 332">
              <a:extLst>
                <a:ext uri="{FF2B5EF4-FFF2-40B4-BE49-F238E27FC236}">
                  <a16:creationId xmlns:a16="http://schemas.microsoft.com/office/drawing/2014/main" id="{B273456A-1F32-9681-5CE4-E8648C2CD9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rgbClr val="512373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333">
              <a:extLst>
                <a:ext uri="{FF2B5EF4-FFF2-40B4-BE49-F238E27FC236}">
                  <a16:creationId xmlns:a16="http://schemas.microsoft.com/office/drawing/2014/main" id="{45A3978A-C72D-1622-97BD-CE5436F6D8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rgbClr val="512373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37C8F3C-2EB0-1C46-BBFD-4DDB3AFE8049}"/>
              </a:ext>
            </a:extLst>
          </p:cNvPr>
          <p:cNvGrpSpPr/>
          <p:nvPr/>
        </p:nvGrpSpPr>
        <p:grpSpPr>
          <a:xfrm>
            <a:off x="3336056" y="2004773"/>
            <a:ext cx="323216" cy="280699"/>
            <a:chOff x="6204686" y="3153320"/>
            <a:chExt cx="898499" cy="616634"/>
          </a:xfrm>
          <a:solidFill>
            <a:srgbClr val="7030A0"/>
          </a:solidFill>
        </p:grpSpPr>
        <p:sp>
          <p:nvSpPr>
            <p:cNvPr id="32" name="Freeform 909">
              <a:extLst>
                <a:ext uri="{FF2B5EF4-FFF2-40B4-BE49-F238E27FC236}">
                  <a16:creationId xmlns:a16="http://schemas.microsoft.com/office/drawing/2014/main" id="{D5C0D595-5D4A-9C2B-3C29-16CCD9CAB6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grpFill/>
            <a:ln w="0">
              <a:solidFill>
                <a:srgbClr val="512373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Freeform 215">
              <a:extLst>
                <a:ext uri="{FF2B5EF4-FFF2-40B4-BE49-F238E27FC236}">
                  <a16:creationId xmlns:a16="http://schemas.microsoft.com/office/drawing/2014/main" id="{318A6E1E-91DF-75FB-343B-76A13F0F4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9797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0">
              <a:solidFill>
                <a:srgbClr val="512373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215">
              <a:extLst>
                <a:ext uri="{FF2B5EF4-FFF2-40B4-BE49-F238E27FC236}">
                  <a16:creationId xmlns:a16="http://schemas.microsoft.com/office/drawing/2014/main" id="{ED21FA84-08B8-50CD-1CD8-1B5403851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6" y="3491051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rgbClr val="512373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215">
              <a:extLst>
                <a:ext uri="{FF2B5EF4-FFF2-40B4-BE49-F238E27FC236}">
                  <a16:creationId xmlns:a16="http://schemas.microsoft.com/office/drawing/2014/main" id="{13039C6A-24ED-3C48-B27C-5B2C6B279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5" y="358396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rgbClr val="512373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21AB5E-BA60-55C6-A22D-478215F1E9E6}"/>
              </a:ext>
            </a:extLst>
          </p:cNvPr>
          <p:cNvGrpSpPr/>
          <p:nvPr/>
        </p:nvGrpSpPr>
        <p:grpSpPr>
          <a:xfrm>
            <a:off x="5253822" y="2030139"/>
            <a:ext cx="323216" cy="280699"/>
            <a:chOff x="6204686" y="3153320"/>
            <a:chExt cx="898499" cy="616634"/>
          </a:xfrm>
          <a:solidFill>
            <a:srgbClr val="7030A0"/>
          </a:solidFill>
        </p:grpSpPr>
        <p:sp>
          <p:nvSpPr>
            <p:cNvPr id="37" name="Freeform 909">
              <a:extLst>
                <a:ext uri="{FF2B5EF4-FFF2-40B4-BE49-F238E27FC236}">
                  <a16:creationId xmlns:a16="http://schemas.microsoft.com/office/drawing/2014/main" id="{41F60EAF-7822-09BE-1FD4-CACAE59EF1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grpFill/>
            <a:ln w="0">
              <a:solidFill>
                <a:srgbClr val="512373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" name="Freeform 215">
              <a:extLst>
                <a:ext uri="{FF2B5EF4-FFF2-40B4-BE49-F238E27FC236}">
                  <a16:creationId xmlns:a16="http://schemas.microsoft.com/office/drawing/2014/main" id="{C8367638-0F10-0E22-532C-767CA5DEF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9797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0">
              <a:solidFill>
                <a:srgbClr val="512373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215">
              <a:extLst>
                <a:ext uri="{FF2B5EF4-FFF2-40B4-BE49-F238E27FC236}">
                  <a16:creationId xmlns:a16="http://schemas.microsoft.com/office/drawing/2014/main" id="{55A67DF3-5E51-5C4C-0D9D-AA64E5D8F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6" y="3491051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rgbClr val="512373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215">
              <a:extLst>
                <a:ext uri="{FF2B5EF4-FFF2-40B4-BE49-F238E27FC236}">
                  <a16:creationId xmlns:a16="http://schemas.microsoft.com/office/drawing/2014/main" id="{9D13A1D9-28E4-55B6-0A43-7292E354B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5" y="358396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rgbClr val="512373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4D2559-C702-6A8C-5609-3FFB79847360}"/>
              </a:ext>
            </a:extLst>
          </p:cNvPr>
          <p:cNvGrpSpPr/>
          <p:nvPr/>
        </p:nvGrpSpPr>
        <p:grpSpPr>
          <a:xfrm>
            <a:off x="7045390" y="1848854"/>
            <a:ext cx="526103" cy="445812"/>
            <a:chOff x="6204686" y="3153320"/>
            <a:chExt cx="898499" cy="616634"/>
          </a:xfrm>
          <a:solidFill>
            <a:srgbClr val="7030A0"/>
          </a:solidFill>
        </p:grpSpPr>
        <p:sp>
          <p:nvSpPr>
            <p:cNvPr id="42" name="Freeform 909">
              <a:extLst>
                <a:ext uri="{FF2B5EF4-FFF2-40B4-BE49-F238E27FC236}">
                  <a16:creationId xmlns:a16="http://schemas.microsoft.com/office/drawing/2014/main" id="{D93320DB-CE58-C6E8-2B95-E884796863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grpFill/>
            <a:ln w="0">
              <a:solidFill>
                <a:srgbClr val="512373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4" name="Freeform 215">
              <a:extLst>
                <a:ext uri="{FF2B5EF4-FFF2-40B4-BE49-F238E27FC236}">
                  <a16:creationId xmlns:a16="http://schemas.microsoft.com/office/drawing/2014/main" id="{E3E358D7-DF56-5885-D1A7-D0405702C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68983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rgbClr val="512373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6" name="Freeform 215">
            <a:extLst>
              <a:ext uri="{FF2B5EF4-FFF2-40B4-BE49-F238E27FC236}">
                <a16:creationId xmlns:a16="http://schemas.microsoft.com/office/drawing/2014/main" id="{C8AFF200-2E4A-D5A7-02EC-EEAB2280CFD0}"/>
              </a:ext>
            </a:extLst>
          </p:cNvPr>
          <p:cNvSpPr>
            <a:spLocks/>
          </p:cNvSpPr>
          <p:nvPr/>
        </p:nvSpPr>
        <p:spPr bwMode="auto">
          <a:xfrm>
            <a:off x="7148972" y="2056011"/>
            <a:ext cx="318938" cy="38046"/>
          </a:xfrm>
          <a:custGeom>
            <a:avLst/>
            <a:gdLst>
              <a:gd name="T0" fmla="*/ 75 w 85"/>
              <a:gd name="T1" fmla="*/ 0 h 21"/>
              <a:gd name="T2" fmla="*/ 11 w 85"/>
              <a:gd name="T3" fmla="*/ 0 h 21"/>
              <a:gd name="T4" fmla="*/ 0 w 85"/>
              <a:gd name="T5" fmla="*/ 10 h 21"/>
              <a:gd name="T6" fmla="*/ 11 w 85"/>
              <a:gd name="T7" fmla="*/ 21 h 21"/>
              <a:gd name="T8" fmla="*/ 75 w 85"/>
              <a:gd name="T9" fmla="*/ 21 h 21"/>
              <a:gd name="T10" fmla="*/ 85 w 85"/>
              <a:gd name="T11" fmla="*/ 10 h 21"/>
              <a:gd name="T12" fmla="*/ 75 w 85"/>
              <a:gd name="T13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5" h="21">
                <a:moveTo>
                  <a:pt x="75" y="0"/>
                </a:move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16"/>
                  <a:pt x="5" y="21"/>
                  <a:pt x="11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81" y="21"/>
                  <a:pt x="85" y="16"/>
                  <a:pt x="85" y="10"/>
                </a:cubicBezTo>
                <a:cubicBezTo>
                  <a:pt x="85" y="4"/>
                  <a:pt x="81" y="0"/>
                  <a:pt x="75" y="0"/>
                </a:cubicBezTo>
                <a:close/>
              </a:path>
            </a:pathLst>
          </a:custGeom>
          <a:solidFill>
            <a:srgbClr val="7030A0"/>
          </a:solidFill>
          <a:ln w="3175">
            <a:solidFill>
              <a:srgbClr val="512373"/>
            </a:solidFill>
            <a:beve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7" name="Freeform 215">
            <a:extLst>
              <a:ext uri="{FF2B5EF4-FFF2-40B4-BE49-F238E27FC236}">
                <a16:creationId xmlns:a16="http://schemas.microsoft.com/office/drawing/2014/main" id="{279795D3-4A21-9D7B-F28F-B6AAC409AE4B}"/>
              </a:ext>
            </a:extLst>
          </p:cNvPr>
          <p:cNvSpPr>
            <a:spLocks/>
          </p:cNvSpPr>
          <p:nvPr/>
        </p:nvSpPr>
        <p:spPr bwMode="auto">
          <a:xfrm>
            <a:off x="7150903" y="2112203"/>
            <a:ext cx="318938" cy="38046"/>
          </a:xfrm>
          <a:custGeom>
            <a:avLst/>
            <a:gdLst>
              <a:gd name="T0" fmla="*/ 75 w 85"/>
              <a:gd name="T1" fmla="*/ 0 h 21"/>
              <a:gd name="T2" fmla="*/ 11 w 85"/>
              <a:gd name="T3" fmla="*/ 0 h 21"/>
              <a:gd name="T4" fmla="*/ 0 w 85"/>
              <a:gd name="T5" fmla="*/ 10 h 21"/>
              <a:gd name="T6" fmla="*/ 11 w 85"/>
              <a:gd name="T7" fmla="*/ 21 h 21"/>
              <a:gd name="T8" fmla="*/ 75 w 85"/>
              <a:gd name="T9" fmla="*/ 21 h 21"/>
              <a:gd name="T10" fmla="*/ 85 w 85"/>
              <a:gd name="T11" fmla="*/ 10 h 21"/>
              <a:gd name="T12" fmla="*/ 75 w 85"/>
              <a:gd name="T13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5" h="21">
                <a:moveTo>
                  <a:pt x="75" y="0"/>
                </a:move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16"/>
                  <a:pt x="5" y="21"/>
                  <a:pt x="11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81" y="21"/>
                  <a:pt x="85" y="16"/>
                  <a:pt x="85" y="10"/>
                </a:cubicBezTo>
                <a:cubicBezTo>
                  <a:pt x="85" y="4"/>
                  <a:pt x="81" y="0"/>
                  <a:pt x="75" y="0"/>
                </a:cubicBezTo>
                <a:close/>
              </a:path>
            </a:pathLst>
          </a:custGeom>
          <a:solidFill>
            <a:srgbClr val="7030A0"/>
          </a:solidFill>
          <a:ln w="3175">
            <a:solidFill>
              <a:srgbClr val="512373"/>
            </a:solidFill>
            <a:beve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Freeform 215">
            <a:extLst>
              <a:ext uri="{FF2B5EF4-FFF2-40B4-BE49-F238E27FC236}">
                <a16:creationId xmlns:a16="http://schemas.microsoft.com/office/drawing/2014/main" id="{138ED37C-3C04-D978-6274-D5A0B33BCB38}"/>
              </a:ext>
            </a:extLst>
          </p:cNvPr>
          <p:cNvSpPr>
            <a:spLocks/>
          </p:cNvSpPr>
          <p:nvPr/>
        </p:nvSpPr>
        <p:spPr bwMode="auto">
          <a:xfrm>
            <a:off x="7148972" y="2171272"/>
            <a:ext cx="318938" cy="38046"/>
          </a:xfrm>
          <a:custGeom>
            <a:avLst/>
            <a:gdLst>
              <a:gd name="T0" fmla="*/ 75 w 85"/>
              <a:gd name="T1" fmla="*/ 0 h 21"/>
              <a:gd name="T2" fmla="*/ 11 w 85"/>
              <a:gd name="T3" fmla="*/ 0 h 21"/>
              <a:gd name="T4" fmla="*/ 0 w 85"/>
              <a:gd name="T5" fmla="*/ 10 h 21"/>
              <a:gd name="T6" fmla="*/ 11 w 85"/>
              <a:gd name="T7" fmla="*/ 21 h 21"/>
              <a:gd name="T8" fmla="*/ 75 w 85"/>
              <a:gd name="T9" fmla="*/ 21 h 21"/>
              <a:gd name="T10" fmla="*/ 85 w 85"/>
              <a:gd name="T11" fmla="*/ 10 h 21"/>
              <a:gd name="T12" fmla="*/ 75 w 85"/>
              <a:gd name="T13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5" h="21">
                <a:moveTo>
                  <a:pt x="75" y="0"/>
                </a:move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16"/>
                  <a:pt x="5" y="21"/>
                  <a:pt x="11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81" y="21"/>
                  <a:pt x="85" y="16"/>
                  <a:pt x="85" y="10"/>
                </a:cubicBezTo>
                <a:cubicBezTo>
                  <a:pt x="85" y="4"/>
                  <a:pt x="81" y="0"/>
                  <a:pt x="7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 w="3175">
            <a:solidFill>
              <a:srgbClr val="512373"/>
            </a:solidFill>
            <a:beve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82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DC3D48-A8F4-406D-AF0B-F94680F78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3: HIE Transformation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DEAD6-CDA2-4870-91F1-2EBF18E5C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98314"/>
            <a:ext cx="7886700" cy="3263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Information is received (e.g. v2 lab, other CCDs) and transformed by an HIE, stored, and then passed in a new format (CCD). Source data is not manipulated beyond transforming into a new format. </a:t>
            </a:r>
          </a:p>
          <a:p>
            <a:pPr marL="400050" lvl="1" indent="0">
              <a:buNone/>
            </a:pPr>
            <a:r>
              <a:rPr lang="en-US" sz="1400" i="1" dirty="0"/>
              <a:t>What additional information is captured when HIE transform the information into a new format?</a:t>
            </a:r>
          </a:p>
          <a:p>
            <a:pPr marL="400050" lvl="1" indent="0">
              <a:buNone/>
            </a:pPr>
            <a:r>
              <a:rPr lang="en-US" sz="1400" i="1" dirty="0"/>
              <a:t>What does the receiving end-user expecting to see?</a:t>
            </a:r>
          </a:p>
          <a:p>
            <a:pPr marL="95250" indent="0">
              <a:buNone/>
            </a:pPr>
            <a:endParaRPr lang="en-US" dirty="0"/>
          </a:p>
        </p:txBody>
      </p:sp>
      <p:grpSp>
        <p:nvGrpSpPr>
          <p:cNvPr id="6" name="Group 331">
            <a:extLst>
              <a:ext uri="{FF2B5EF4-FFF2-40B4-BE49-F238E27FC236}">
                <a16:creationId xmlns:a16="http://schemas.microsoft.com/office/drawing/2014/main" id="{684B4F4F-5576-4E29-B1AE-271C764939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50310" y="4200810"/>
            <a:ext cx="459286" cy="459286"/>
            <a:chOff x="3628" y="1334"/>
            <a:chExt cx="340" cy="340"/>
          </a:xfrm>
          <a:solidFill>
            <a:schemeClr val="accent6"/>
          </a:solidFill>
        </p:grpSpPr>
        <p:sp>
          <p:nvSpPr>
            <p:cNvPr id="7" name="Freeform 332">
              <a:extLst>
                <a:ext uri="{FF2B5EF4-FFF2-40B4-BE49-F238E27FC236}">
                  <a16:creationId xmlns:a16="http://schemas.microsoft.com/office/drawing/2014/main" id="{EBE4BF8D-8E67-430D-B0C3-8DFDF44918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333">
              <a:extLst>
                <a:ext uri="{FF2B5EF4-FFF2-40B4-BE49-F238E27FC236}">
                  <a16:creationId xmlns:a16="http://schemas.microsoft.com/office/drawing/2014/main" id="{602E7700-9EE7-4BE1-88E2-DC4D08C9FF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Group 331">
            <a:extLst>
              <a:ext uri="{FF2B5EF4-FFF2-40B4-BE49-F238E27FC236}">
                <a16:creationId xmlns:a16="http://schemas.microsoft.com/office/drawing/2014/main" id="{AD6F68FC-7B5A-4D2F-B4E4-7D242CD6F37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50310" y="4770470"/>
            <a:ext cx="459286" cy="459286"/>
            <a:chOff x="3628" y="1334"/>
            <a:chExt cx="340" cy="340"/>
          </a:xfrm>
          <a:solidFill>
            <a:schemeClr val="tx1"/>
          </a:solidFill>
        </p:grpSpPr>
        <p:sp>
          <p:nvSpPr>
            <p:cNvPr id="10" name="Freeform 332">
              <a:extLst>
                <a:ext uri="{FF2B5EF4-FFF2-40B4-BE49-F238E27FC236}">
                  <a16:creationId xmlns:a16="http://schemas.microsoft.com/office/drawing/2014/main" id="{47C75EC9-E436-4F81-9B88-CE4075E30A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333">
              <a:extLst>
                <a:ext uri="{FF2B5EF4-FFF2-40B4-BE49-F238E27FC236}">
                  <a16:creationId xmlns:a16="http://schemas.microsoft.com/office/drawing/2014/main" id="{68F5EA7F-CC21-4378-ADB4-C6C3BCB2D7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Group 331">
            <a:extLst>
              <a:ext uri="{FF2B5EF4-FFF2-40B4-BE49-F238E27FC236}">
                <a16:creationId xmlns:a16="http://schemas.microsoft.com/office/drawing/2014/main" id="{2A96FED4-B3F5-43F7-9DCC-9A930B62915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50310" y="5316210"/>
            <a:ext cx="459286" cy="459286"/>
            <a:chOff x="3628" y="1334"/>
            <a:chExt cx="340" cy="340"/>
          </a:xfrm>
          <a:solidFill>
            <a:srgbClr val="7030A0"/>
          </a:solidFill>
        </p:grpSpPr>
        <p:sp>
          <p:nvSpPr>
            <p:cNvPr id="13" name="Freeform 332">
              <a:extLst>
                <a:ext uri="{FF2B5EF4-FFF2-40B4-BE49-F238E27FC236}">
                  <a16:creationId xmlns:a16="http://schemas.microsoft.com/office/drawing/2014/main" id="{0D3CECAA-7030-4E93-B979-FF6917F260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rgbClr val="512373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333">
              <a:extLst>
                <a:ext uri="{FF2B5EF4-FFF2-40B4-BE49-F238E27FC236}">
                  <a16:creationId xmlns:a16="http://schemas.microsoft.com/office/drawing/2014/main" id="{3D102E8F-BB54-44F2-B9BB-748A0CE977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rgbClr val="512373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A42F74-21F1-4B20-9A4B-EDABE7FB306E}"/>
              </a:ext>
            </a:extLst>
          </p:cNvPr>
          <p:cNvCxnSpPr>
            <a:cxnSpLocks/>
          </p:cNvCxnSpPr>
          <p:nvPr/>
        </p:nvCxnSpPr>
        <p:spPr>
          <a:xfrm>
            <a:off x="2660788" y="4439173"/>
            <a:ext cx="1313115" cy="29474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320B20-5B05-44F3-9A8B-CAC6723FB13B}"/>
              </a:ext>
            </a:extLst>
          </p:cNvPr>
          <p:cNvCxnSpPr>
            <a:cxnSpLocks/>
          </p:cNvCxnSpPr>
          <p:nvPr/>
        </p:nvCxnSpPr>
        <p:spPr>
          <a:xfrm>
            <a:off x="2676332" y="5000113"/>
            <a:ext cx="129757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AFB8B9-230C-41BB-973F-DFDA6C47BC3F}"/>
              </a:ext>
            </a:extLst>
          </p:cNvPr>
          <p:cNvCxnSpPr>
            <a:cxnSpLocks/>
          </p:cNvCxnSpPr>
          <p:nvPr/>
        </p:nvCxnSpPr>
        <p:spPr>
          <a:xfrm flipV="1">
            <a:off x="2676332" y="5293402"/>
            <a:ext cx="1297571" cy="28806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331">
            <a:extLst>
              <a:ext uri="{FF2B5EF4-FFF2-40B4-BE49-F238E27FC236}">
                <a16:creationId xmlns:a16="http://schemas.microsoft.com/office/drawing/2014/main" id="{066F1C7A-3FBC-4E9A-B389-EAC006D147B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93690" y="4687963"/>
            <a:ext cx="459286" cy="459286"/>
            <a:chOff x="3628" y="1334"/>
            <a:chExt cx="340" cy="340"/>
          </a:xfrm>
          <a:solidFill>
            <a:schemeClr val="accent2"/>
          </a:solidFill>
        </p:grpSpPr>
        <p:sp>
          <p:nvSpPr>
            <p:cNvPr id="26" name="Freeform 332">
              <a:extLst>
                <a:ext uri="{FF2B5EF4-FFF2-40B4-BE49-F238E27FC236}">
                  <a16:creationId xmlns:a16="http://schemas.microsoft.com/office/drawing/2014/main" id="{172252AE-E3CB-497F-8065-EDBBA06751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accent2">
                  <a:lumMod val="75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Freeform 333">
              <a:extLst>
                <a:ext uri="{FF2B5EF4-FFF2-40B4-BE49-F238E27FC236}">
                  <a16:creationId xmlns:a16="http://schemas.microsoft.com/office/drawing/2014/main" id="{5F9AFFE7-8609-476A-B5E1-753F41314D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chemeClr val="accent2">
                  <a:lumMod val="75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849877-4497-46E0-A0F6-0ACA29A618F7}"/>
              </a:ext>
            </a:extLst>
          </p:cNvPr>
          <p:cNvCxnSpPr>
            <a:cxnSpLocks/>
          </p:cNvCxnSpPr>
          <p:nvPr/>
        </p:nvCxnSpPr>
        <p:spPr>
          <a:xfrm>
            <a:off x="5707077" y="4963958"/>
            <a:ext cx="122100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5D8F618-AA1D-4AA0-BF38-0F04C281974D}"/>
              </a:ext>
            </a:extLst>
          </p:cNvPr>
          <p:cNvGrpSpPr/>
          <p:nvPr/>
        </p:nvGrpSpPr>
        <p:grpSpPr>
          <a:xfrm>
            <a:off x="3101107" y="4279594"/>
            <a:ext cx="267509" cy="220923"/>
            <a:chOff x="6204686" y="3153320"/>
            <a:chExt cx="898499" cy="616634"/>
          </a:xfrm>
          <a:solidFill>
            <a:schemeClr val="accent6"/>
          </a:solidFill>
        </p:grpSpPr>
        <p:sp>
          <p:nvSpPr>
            <p:cNvPr id="30" name="Freeform 909">
              <a:extLst>
                <a:ext uri="{FF2B5EF4-FFF2-40B4-BE49-F238E27FC236}">
                  <a16:creationId xmlns:a16="http://schemas.microsoft.com/office/drawing/2014/main" id="{BF5FFF86-A334-4EBC-BD8C-27FFEE764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grpFill/>
            <a:ln w="0">
              <a:solidFill>
                <a:schemeClr val="accent6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" name="Freeform 215">
              <a:extLst>
                <a:ext uri="{FF2B5EF4-FFF2-40B4-BE49-F238E27FC236}">
                  <a16:creationId xmlns:a16="http://schemas.microsoft.com/office/drawing/2014/main" id="{79B9D6C1-F6E6-48B3-9099-C5F744F53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9797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0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215">
              <a:extLst>
                <a:ext uri="{FF2B5EF4-FFF2-40B4-BE49-F238E27FC236}">
                  <a16:creationId xmlns:a16="http://schemas.microsoft.com/office/drawing/2014/main" id="{DA2D4E68-7A6C-480D-85D7-DA7684212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6" y="3491051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chemeClr val="accent6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215">
              <a:extLst>
                <a:ext uri="{FF2B5EF4-FFF2-40B4-BE49-F238E27FC236}">
                  <a16:creationId xmlns:a16="http://schemas.microsoft.com/office/drawing/2014/main" id="{D326CCDE-ACF8-4410-9454-35C03FF8A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5" y="358396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8843BD0-95A2-41C0-9F5F-2BBC13970A84}"/>
              </a:ext>
            </a:extLst>
          </p:cNvPr>
          <p:cNvGrpSpPr/>
          <p:nvPr/>
        </p:nvGrpSpPr>
        <p:grpSpPr>
          <a:xfrm>
            <a:off x="3101107" y="4732791"/>
            <a:ext cx="267509" cy="220923"/>
            <a:chOff x="6204686" y="3153320"/>
            <a:chExt cx="898499" cy="616634"/>
          </a:xfrm>
        </p:grpSpPr>
        <p:sp>
          <p:nvSpPr>
            <p:cNvPr id="39" name="Freeform 909">
              <a:extLst>
                <a:ext uri="{FF2B5EF4-FFF2-40B4-BE49-F238E27FC236}">
                  <a16:creationId xmlns:a16="http://schemas.microsoft.com/office/drawing/2014/main" id="{71C8CCE2-DF29-4067-A782-566C4F0A6B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" name="Freeform 215">
              <a:extLst>
                <a:ext uri="{FF2B5EF4-FFF2-40B4-BE49-F238E27FC236}">
                  <a16:creationId xmlns:a16="http://schemas.microsoft.com/office/drawing/2014/main" id="{F83ECA1B-4D1A-4CB0-9B8A-88054E690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9797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215">
              <a:extLst>
                <a:ext uri="{FF2B5EF4-FFF2-40B4-BE49-F238E27FC236}">
                  <a16:creationId xmlns:a16="http://schemas.microsoft.com/office/drawing/2014/main" id="{FAD87890-DF52-47DF-8D1A-40D8E6EBA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6" y="3491051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chemeClr val="tx1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215">
              <a:extLst>
                <a:ext uri="{FF2B5EF4-FFF2-40B4-BE49-F238E27FC236}">
                  <a16:creationId xmlns:a16="http://schemas.microsoft.com/office/drawing/2014/main" id="{6E609D42-41F4-43B1-9B7F-482BBD18C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5" y="358396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chemeClr val="tx1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B422C0E-2F2E-40E4-9CCC-8C8B881ECFD2}"/>
              </a:ext>
            </a:extLst>
          </p:cNvPr>
          <p:cNvGrpSpPr/>
          <p:nvPr/>
        </p:nvGrpSpPr>
        <p:grpSpPr>
          <a:xfrm>
            <a:off x="3101107" y="5176994"/>
            <a:ext cx="267509" cy="220923"/>
            <a:chOff x="6204686" y="3153320"/>
            <a:chExt cx="898499" cy="616634"/>
          </a:xfrm>
          <a:solidFill>
            <a:srgbClr val="7030A0"/>
          </a:solidFill>
        </p:grpSpPr>
        <p:sp>
          <p:nvSpPr>
            <p:cNvPr id="44" name="Freeform 909">
              <a:extLst>
                <a:ext uri="{FF2B5EF4-FFF2-40B4-BE49-F238E27FC236}">
                  <a16:creationId xmlns:a16="http://schemas.microsoft.com/office/drawing/2014/main" id="{07972552-60A2-428D-B20D-D880CB23A9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grpFill/>
            <a:ln w="0">
              <a:solidFill>
                <a:srgbClr val="512373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5" name="Freeform 215">
              <a:extLst>
                <a:ext uri="{FF2B5EF4-FFF2-40B4-BE49-F238E27FC236}">
                  <a16:creationId xmlns:a16="http://schemas.microsoft.com/office/drawing/2014/main" id="{6AC532DE-30EC-4896-8AE5-AA059865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9797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0">
              <a:solidFill>
                <a:srgbClr val="512373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215">
              <a:extLst>
                <a:ext uri="{FF2B5EF4-FFF2-40B4-BE49-F238E27FC236}">
                  <a16:creationId xmlns:a16="http://schemas.microsoft.com/office/drawing/2014/main" id="{0A6E8187-4E83-4DFD-86BC-552BCFD05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6" y="3491051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rgbClr val="512373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15">
              <a:extLst>
                <a:ext uri="{FF2B5EF4-FFF2-40B4-BE49-F238E27FC236}">
                  <a16:creationId xmlns:a16="http://schemas.microsoft.com/office/drawing/2014/main" id="{DAAC28CD-15C5-410F-B6B2-480AF10E1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5" y="358396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rgbClr val="512373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A06E6DD-D064-4A35-96F6-F4FD57906561}"/>
              </a:ext>
            </a:extLst>
          </p:cNvPr>
          <p:cNvGrpSpPr/>
          <p:nvPr/>
        </p:nvGrpSpPr>
        <p:grpSpPr>
          <a:xfrm>
            <a:off x="4150882" y="4321238"/>
            <a:ext cx="1374938" cy="1327724"/>
            <a:chOff x="3911592" y="2918010"/>
            <a:chExt cx="1374938" cy="132772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05AA0DF-DC11-4CA8-AE85-ABF26F5EA2D7}"/>
                </a:ext>
              </a:extLst>
            </p:cNvPr>
            <p:cNvSpPr txBox="1"/>
            <p:nvPr/>
          </p:nvSpPr>
          <p:spPr>
            <a:xfrm>
              <a:off x="4221297" y="3405467"/>
              <a:ext cx="7555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 Black" panose="020B0A04020102020204" pitchFamily="34" charset="0"/>
                </a:rPr>
                <a:t>HIE</a:t>
              </a:r>
              <a:endParaRPr 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55" name="Callout: Quad Arrow 54">
              <a:extLst>
                <a:ext uri="{FF2B5EF4-FFF2-40B4-BE49-F238E27FC236}">
                  <a16:creationId xmlns:a16="http://schemas.microsoft.com/office/drawing/2014/main" id="{AE32E84F-5A12-4207-B71F-FC75553034D4}"/>
                </a:ext>
              </a:extLst>
            </p:cNvPr>
            <p:cNvSpPr/>
            <p:nvPr/>
          </p:nvSpPr>
          <p:spPr>
            <a:xfrm>
              <a:off x="3911592" y="2918010"/>
              <a:ext cx="1374938" cy="1327724"/>
            </a:xfrm>
            <a:prstGeom prst="quadArrowCallo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6CB426C-D9A3-47D2-983A-26C400A49F50}"/>
              </a:ext>
            </a:extLst>
          </p:cNvPr>
          <p:cNvGrpSpPr/>
          <p:nvPr/>
        </p:nvGrpSpPr>
        <p:grpSpPr>
          <a:xfrm>
            <a:off x="6006039" y="4321239"/>
            <a:ext cx="625714" cy="539622"/>
            <a:chOff x="5951095" y="2975558"/>
            <a:chExt cx="1142595" cy="779454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C040175-4199-4414-849F-64D427AA9B00}"/>
                </a:ext>
              </a:extLst>
            </p:cNvPr>
            <p:cNvGrpSpPr/>
            <p:nvPr/>
          </p:nvGrpSpPr>
          <p:grpSpPr>
            <a:xfrm>
              <a:off x="5951095" y="2975558"/>
              <a:ext cx="1142595" cy="779454"/>
              <a:chOff x="6204686" y="3153320"/>
              <a:chExt cx="898499" cy="616634"/>
            </a:xfrm>
          </p:grpSpPr>
          <p:sp>
            <p:nvSpPr>
              <p:cNvPr id="49" name="Freeform 909">
                <a:extLst>
                  <a:ext uri="{FF2B5EF4-FFF2-40B4-BE49-F238E27FC236}">
                    <a16:creationId xmlns:a16="http://schemas.microsoft.com/office/drawing/2014/main" id="{5FB9CB07-069D-4934-854E-024C51C9B4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4686" y="3153320"/>
                <a:ext cx="898499" cy="616634"/>
              </a:xfrm>
              <a:custGeom>
                <a:avLst/>
                <a:gdLst>
                  <a:gd name="T0" fmla="*/ 309 w 320"/>
                  <a:gd name="T1" fmla="*/ 235 h 235"/>
                  <a:gd name="T2" fmla="*/ 10 w 320"/>
                  <a:gd name="T3" fmla="*/ 235 h 235"/>
                  <a:gd name="T4" fmla="*/ 0 w 320"/>
                  <a:gd name="T5" fmla="*/ 224 h 235"/>
                  <a:gd name="T6" fmla="*/ 0 w 320"/>
                  <a:gd name="T7" fmla="*/ 11 h 235"/>
                  <a:gd name="T8" fmla="*/ 10 w 320"/>
                  <a:gd name="T9" fmla="*/ 0 h 235"/>
                  <a:gd name="T10" fmla="*/ 96 w 320"/>
                  <a:gd name="T11" fmla="*/ 0 h 235"/>
                  <a:gd name="T12" fmla="*/ 105 w 320"/>
                  <a:gd name="T13" fmla="*/ 5 h 235"/>
                  <a:gd name="T14" fmla="*/ 123 w 320"/>
                  <a:gd name="T15" fmla="*/ 32 h 235"/>
                  <a:gd name="T16" fmla="*/ 309 w 320"/>
                  <a:gd name="T17" fmla="*/ 32 h 235"/>
                  <a:gd name="T18" fmla="*/ 320 w 320"/>
                  <a:gd name="T19" fmla="*/ 43 h 235"/>
                  <a:gd name="T20" fmla="*/ 320 w 320"/>
                  <a:gd name="T21" fmla="*/ 224 h 235"/>
                  <a:gd name="T22" fmla="*/ 309 w 320"/>
                  <a:gd name="T23" fmla="*/ 235 h 235"/>
                  <a:gd name="T24" fmla="*/ 21 w 320"/>
                  <a:gd name="T25" fmla="*/ 214 h 235"/>
                  <a:gd name="T26" fmla="*/ 298 w 320"/>
                  <a:gd name="T27" fmla="*/ 214 h 235"/>
                  <a:gd name="T28" fmla="*/ 298 w 320"/>
                  <a:gd name="T29" fmla="*/ 54 h 235"/>
                  <a:gd name="T30" fmla="*/ 117 w 320"/>
                  <a:gd name="T31" fmla="*/ 54 h 235"/>
                  <a:gd name="T32" fmla="*/ 108 w 320"/>
                  <a:gd name="T33" fmla="*/ 49 h 235"/>
                  <a:gd name="T34" fmla="*/ 90 w 320"/>
                  <a:gd name="T35" fmla="*/ 22 h 235"/>
                  <a:gd name="T36" fmla="*/ 21 w 320"/>
                  <a:gd name="T37" fmla="*/ 22 h 235"/>
                  <a:gd name="T38" fmla="*/ 21 w 320"/>
                  <a:gd name="T39" fmla="*/ 214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0" h="235">
                    <a:moveTo>
                      <a:pt x="309" y="235"/>
                    </a:moveTo>
                    <a:cubicBezTo>
                      <a:pt x="10" y="235"/>
                      <a:pt x="10" y="235"/>
                      <a:pt x="10" y="235"/>
                    </a:cubicBezTo>
                    <a:cubicBezTo>
                      <a:pt x="4" y="235"/>
                      <a:pt x="0" y="230"/>
                      <a:pt x="0" y="22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9" y="0"/>
                      <a:pt x="103" y="2"/>
                      <a:pt x="105" y="5"/>
                    </a:cubicBezTo>
                    <a:cubicBezTo>
                      <a:pt x="123" y="32"/>
                      <a:pt x="123" y="32"/>
                      <a:pt x="123" y="32"/>
                    </a:cubicBezTo>
                    <a:cubicBezTo>
                      <a:pt x="309" y="32"/>
                      <a:pt x="309" y="32"/>
                      <a:pt x="309" y="32"/>
                    </a:cubicBezTo>
                    <a:cubicBezTo>
                      <a:pt x="315" y="32"/>
                      <a:pt x="320" y="37"/>
                      <a:pt x="320" y="43"/>
                    </a:cubicBezTo>
                    <a:cubicBezTo>
                      <a:pt x="320" y="224"/>
                      <a:pt x="320" y="224"/>
                      <a:pt x="320" y="224"/>
                    </a:cubicBezTo>
                    <a:cubicBezTo>
                      <a:pt x="320" y="230"/>
                      <a:pt x="315" y="235"/>
                      <a:pt x="309" y="235"/>
                    </a:cubicBezTo>
                    <a:close/>
                    <a:moveTo>
                      <a:pt x="21" y="214"/>
                    </a:moveTo>
                    <a:cubicBezTo>
                      <a:pt x="298" y="214"/>
                      <a:pt x="298" y="214"/>
                      <a:pt x="298" y="214"/>
                    </a:cubicBezTo>
                    <a:cubicBezTo>
                      <a:pt x="298" y="54"/>
                      <a:pt x="298" y="54"/>
                      <a:pt x="298" y="54"/>
                    </a:cubicBezTo>
                    <a:cubicBezTo>
                      <a:pt x="117" y="54"/>
                      <a:pt x="117" y="54"/>
                      <a:pt x="117" y="54"/>
                    </a:cubicBezTo>
                    <a:cubicBezTo>
                      <a:pt x="113" y="54"/>
                      <a:pt x="110" y="52"/>
                      <a:pt x="108" y="49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21" y="22"/>
                      <a:pt x="21" y="22"/>
                      <a:pt x="21" y="22"/>
                    </a:cubicBezTo>
                    <a:lnTo>
                      <a:pt x="21" y="214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0">
                <a:solidFill>
                  <a:schemeClr val="accent5">
                    <a:lumMod val="50000"/>
                  </a:schemeClr>
                </a:solidFill>
                <a:beve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0" name="Freeform 215">
                <a:extLst>
                  <a:ext uri="{FF2B5EF4-FFF2-40B4-BE49-F238E27FC236}">
                    <a16:creationId xmlns:a16="http://schemas.microsoft.com/office/drawing/2014/main" id="{38B777CB-85B9-456B-A3DA-2B45221B6C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1587" y="3344610"/>
                <a:ext cx="544695" cy="52624"/>
              </a:xfrm>
              <a:custGeom>
                <a:avLst/>
                <a:gdLst>
                  <a:gd name="T0" fmla="*/ 75 w 85"/>
                  <a:gd name="T1" fmla="*/ 0 h 21"/>
                  <a:gd name="T2" fmla="*/ 11 w 85"/>
                  <a:gd name="T3" fmla="*/ 0 h 21"/>
                  <a:gd name="T4" fmla="*/ 0 w 85"/>
                  <a:gd name="T5" fmla="*/ 10 h 21"/>
                  <a:gd name="T6" fmla="*/ 11 w 85"/>
                  <a:gd name="T7" fmla="*/ 21 h 21"/>
                  <a:gd name="T8" fmla="*/ 75 w 85"/>
                  <a:gd name="T9" fmla="*/ 21 h 21"/>
                  <a:gd name="T10" fmla="*/ 85 w 85"/>
                  <a:gd name="T11" fmla="*/ 10 h 21"/>
                  <a:gd name="T12" fmla="*/ 75 w 85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21">
                    <a:moveTo>
                      <a:pt x="75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16"/>
                      <a:pt x="5" y="21"/>
                      <a:pt x="11" y="21"/>
                    </a:cubicBezTo>
                    <a:cubicBezTo>
                      <a:pt x="75" y="21"/>
                      <a:pt x="75" y="21"/>
                      <a:pt x="75" y="21"/>
                    </a:cubicBezTo>
                    <a:cubicBezTo>
                      <a:pt x="81" y="21"/>
                      <a:pt x="85" y="16"/>
                      <a:pt x="85" y="10"/>
                    </a:cubicBezTo>
                    <a:cubicBezTo>
                      <a:pt x="85" y="4"/>
                      <a:pt x="81" y="0"/>
                      <a:pt x="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solidFill>
                  <a:schemeClr val="accent6">
                    <a:lumMod val="50000"/>
                  </a:schemeClr>
                </a:solidFill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Freeform 215">
                <a:extLst>
                  <a:ext uri="{FF2B5EF4-FFF2-40B4-BE49-F238E27FC236}">
                    <a16:creationId xmlns:a16="http://schemas.microsoft.com/office/drawing/2014/main" id="{989EEE0E-097E-421C-9D26-A5333031ED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1586" y="3437689"/>
                <a:ext cx="544695" cy="52624"/>
              </a:xfrm>
              <a:custGeom>
                <a:avLst/>
                <a:gdLst>
                  <a:gd name="T0" fmla="*/ 75 w 85"/>
                  <a:gd name="T1" fmla="*/ 0 h 21"/>
                  <a:gd name="T2" fmla="*/ 11 w 85"/>
                  <a:gd name="T3" fmla="*/ 0 h 21"/>
                  <a:gd name="T4" fmla="*/ 0 w 85"/>
                  <a:gd name="T5" fmla="*/ 10 h 21"/>
                  <a:gd name="T6" fmla="*/ 11 w 85"/>
                  <a:gd name="T7" fmla="*/ 21 h 21"/>
                  <a:gd name="T8" fmla="*/ 75 w 85"/>
                  <a:gd name="T9" fmla="*/ 21 h 21"/>
                  <a:gd name="T10" fmla="*/ 85 w 85"/>
                  <a:gd name="T11" fmla="*/ 10 h 21"/>
                  <a:gd name="T12" fmla="*/ 75 w 85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21">
                    <a:moveTo>
                      <a:pt x="75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16"/>
                      <a:pt x="5" y="21"/>
                      <a:pt x="11" y="21"/>
                    </a:cubicBezTo>
                    <a:cubicBezTo>
                      <a:pt x="75" y="21"/>
                      <a:pt x="75" y="21"/>
                      <a:pt x="75" y="21"/>
                    </a:cubicBezTo>
                    <a:cubicBezTo>
                      <a:pt x="81" y="21"/>
                      <a:pt x="85" y="16"/>
                      <a:pt x="85" y="10"/>
                    </a:cubicBezTo>
                    <a:cubicBezTo>
                      <a:pt x="85" y="4"/>
                      <a:pt x="81" y="0"/>
                      <a:pt x="75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175">
                <a:solidFill>
                  <a:schemeClr val="tx1"/>
                </a:solidFill>
                <a:beve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2" name="Freeform 215">
                <a:extLst>
                  <a:ext uri="{FF2B5EF4-FFF2-40B4-BE49-F238E27FC236}">
                    <a16:creationId xmlns:a16="http://schemas.microsoft.com/office/drawing/2014/main" id="{F539AE3A-3823-4450-94F1-700860C6E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1585" y="3530601"/>
                <a:ext cx="544695" cy="52624"/>
              </a:xfrm>
              <a:custGeom>
                <a:avLst/>
                <a:gdLst>
                  <a:gd name="T0" fmla="*/ 75 w 85"/>
                  <a:gd name="T1" fmla="*/ 0 h 21"/>
                  <a:gd name="T2" fmla="*/ 11 w 85"/>
                  <a:gd name="T3" fmla="*/ 0 h 21"/>
                  <a:gd name="T4" fmla="*/ 0 w 85"/>
                  <a:gd name="T5" fmla="*/ 10 h 21"/>
                  <a:gd name="T6" fmla="*/ 11 w 85"/>
                  <a:gd name="T7" fmla="*/ 21 h 21"/>
                  <a:gd name="T8" fmla="*/ 75 w 85"/>
                  <a:gd name="T9" fmla="*/ 21 h 21"/>
                  <a:gd name="T10" fmla="*/ 85 w 85"/>
                  <a:gd name="T11" fmla="*/ 10 h 21"/>
                  <a:gd name="T12" fmla="*/ 75 w 85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21">
                    <a:moveTo>
                      <a:pt x="75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16"/>
                      <a:pt x="5" y="21"/>
                      <a:pt x="11" y="21"/>
                    </a:cubicBezTo>
                    <a:cubicBezTo>
                      <a:pt x="75" y="21"/>
                      <a:pt x="75" y="21"/>
                      <a:pt x="75" y="21"/>
                    </a:cubicBezTo>
                    <a:cubicBezTo>
                      <a:pt x="81" y="21"/>
                      <a:pt x="85" y="16"/>
                      <a:pt x="85" y="10"/>
                    </a:cubicBezTo>
                    <a:cubicBezTo>
                      <a:pt x="85" y="4"/>
                      <a:pt x="81" y="0"/>
                      <a:pt x="75" y="0"/>
                    </a:cubicBezTo>
                    <a:close/>
                  </a:path>
                </a:pathLst>
              </a:custGeom>
              <a:solidFill>
                <a:srgbClr val="512373"/>
              </a:solidFill>
              <a:ln w="3175">
                <a:solidFill>
                  <a:srgbClr val="512373"/>
                </a:solidFill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6" name="Freeform 215">
              <a:extLst>
                <a:ext uri="{FF2B5EF4-FFF2-40B4-BE49-F238E27FC236}">
                  <a16:creationId xmlns:a16="http://schemas.microsoft.com/office/drawing/2014/main" id="{AC68BBE8-E226-4234-8174-E5FF945E5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0048" y="3575414"/>
              <a:ext cx="692673" cy="66519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97E49F1-D50B-4B69-898B-D976F9855205}"/>
              </a:ext>
            </a:extLst>
          </p:cNvPr>
          <p:cNvSpPr txBox="1"/>
          <p:nvPr/>
        </p:nvSpPr>
        <p:spPr>
          <a:xfrm>
            <a:off x="4781738" y="5581471"/>
            <a:ext cx="3477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750"/>
            <a:r>
              <a:rPr lang="en-US" dirty="0"/>
              <a:t>Includes:</a:t>
            </a:r>
          </a:p>
          <a:p>
            <a:pPr marL="158750"/>
            <a:r>
              <a:rPr lang="en-US" dirty="0"/>
              <a:t> - Automated deduplication</a:t>
            </a:r>
          </a:p>
          <a:p>
            <a:pPr marL="158750"/>
            <a:r>
              <a:rPr lang="en-US" dirty="0"/>
              <a:t> - Adding translations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567D3-C0B1-4043-87F7-6C61FF852412}"/>
              </a:ext>
            </a:extLst>
          </p:cNvPr>
          <p:cNvSpPr txBox="1"/>
          <p:nvPr/>
        </p:nvSpPr>
        <p:spPr>
          <a:xfrm>
            <a:off x="5117184" y="3501701"/>
            <a:ext cx="3029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Would this be any different if it were a registry instead of an HIE?</a:t>
            </a:r>
          </a:p>
        </p:txBody>
      </p:sp>
    </p:spTree>
    <p:extLst>
      <p:ext uri="{BB962C8B-B14F-4D97-AF65-F5344CB8AC3E}">
        <p14:creationId xmlns:p14="http://schemas.microsoft.com/office/powerpoint/2010/main" val="395115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0DE0E6EE-38B1-42EE-892D-A39950DF712B}"/>
              </a:ext>
            </a:extLst>
          </p:cNvPr>
          <p:cNvGrpSpPr/>
          <p:nvPr/>
        </p:nvGrpSpPr>
        <p:grpSpPr>
          <a:xfrm>
            <a:off x="4072812" y="3558434"/>
            <a:ext cx="1645056" cy="1559611"/>
            <a:chOff x="6387366" y="1598367"/>
            <a:chExt cx="2376488" cy="2217737"/>
          </a:xfrm>
          <a:solidFill>
            <a:schemeClr val="accent1"/>
          </a:solidFill>
        </p:grpSpPr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A749615E-9AD0-469C-B810-D1657FC9D2F1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565166" y="1598367"/>
              <a:ext cx="1976438" cy="939800"/>
            </a:xfrm>
            <a:custGeom>
              <a:avLst/>
              <a:gdLst>
                <a:gd name="T0" fmla="*/ 2147483647 w 1553"/>
                <a:gd name="T1" fmla="*/ 2147483647 h 753"/>
                <a:gd name="T2" fmla="*/ 2147483647 w 1553"/>
                <a:gd name="T3" fmla="*/ 2147483647 h 753"/>
                <a:gd name="T4" fmla="*/ 2147483647 w 1553"/>
                <a:gd name="T5" fmla="*/ 2147483647 h 753"/>
                <a:gd name="T6" fmla="*/ 2147483647 w 1553"/>
                <a:gd name="T7" fmla="*/ 2147483647 h 753"/>
                <a:gd name="T8" fmla="*/ 2147483647 w 1553"/>
                <a:gd name="T9" fmla="*/ 2147483647 h 753"/>
                <a:gd name="T10" fmla="*/ 2147483647 w 1553"/>
                <a:gd name="T11" fmla="*/ 2147483647 h 753"/>
                <a:gd name="T12" fmla="*/ 2147483647 w 1553"/>
                <a:gd name="T13" fmla="*/ 2147483647 h 753"/>
                <a:gd name="T14" fmla="*/ 2147483647 w 1553"/>
                <a:gd name="T15" fmla="*/ 2147483647 h 753"/>
                <a:gd name="T16" fmla="*/ 2147483647 w 1553"/>
                <a:gd name="T17" fmla="*/ 2147483647 h 753"/>
                <a:gd name="T18" fmla="*/ 2147483647 w 1553"/>
                <a:gd name="T19" fmla="*/ 2147483647 h 753"/>
                <a:gd name="T20" fmla="*/ 2147483647 w 1553"/>
                <a:gd name="T21" fmla="*/ 2147483647 h 753"/>
                <a:gd name="T22" fmla="*/ 2147483647 w 1553"/>
                <a:gd name="T23" fmla="*/ 2147483647 h 753"/>
                <a:gd name="T24" fmla="*/ 2147483647 w 1553"/>
                <a:gd name="T25" fmla="*/ 2147483647 h 753"/>
                <a:gd name="T26" fmla="*/ 2147483647 w 1553"/>
                <a:gd name="T27" fmla="*/ 0 h 753"/>
                <a:gd name="T28" fmla="*/ 2147483647 w 1553"/>
                <a:gd name="T29" fmla="*/ 2147483647 h 753"/>
                <a:gd name="T30" fmla="*/ 2147483647 w 1553"/>
                <a:gd name="T31" fmla="*/ 2147483647 h 753"/>
                <a:gd name="T32" fmla="*/ 2147483647 w 1553"/>
                <a:gd name="T33" fmla="*/ 2147483647 h 753"/>
                <a:gd name="T34" fmla="*/ 2147483647 w 1553"/>
                <a:gd name="T35" fmla="*/ 2147483647 h 753"/>
                <a:gd name="T36" fmla="*/ 2147483647 w 1553"/>
                <a:gd name="T37" fmla="*/ 2147483647 h 753"/>
                <a:gd name="T38" fmla="*/ 2147483647 w 1553"/>
                <a:gd name="T39" fmla="*/ 2147483647 h 753"/>
                <a:gd name="T40" fmla="*/ 2147483647 w 1553"/>
                <a:gd name="T41" fmla="*/ 2147483647 h 753"/>
                <a:gd name="T42" fmla="*/ 2147483647 w 1553"/>
                <a:gd name="T43" fmla="*/ 2147483647 h 753"/>
                <a:gd name="T44" fmla="*/ 2147483647 w 1553"/>
                <a:gd name="T45" fmla="*/ 2147483647 h 753"/>
                <a:gd name="T46" fmla="*/ 2147483647 w 1553"/>
                <a:gd name="T47" fmla="*/ 2147483647 h 753"/>
                <a:gd name="T48" fmla="*/ 2147483647 w 1553"/>
                <a:gd name="T49" fmla="*/ 2147483647 h 753"/>
                <a:gd name="T50" fmla="*/ 2147483647 w 1553"/>
                <a:gd name="T51" fmla="*/ 2147483647 h 753"/>
                <a:gd name="T52" fmla="*/ 2147483647 w 1553"/>
                <a:gd name="T53" fmla="*/ 2147483647 h 753"/>
                <a:gd name="T54" fmla="*/ 2147483647 w 1553"/>
                <a:gd name="T55" fmla="*/ 2147483647 h 753"/>
                <a:gd name="T56" fmla="*/ 2147483647 w 1553"/>
                <a:gd name="T57" fmla="*/ 2147483647 h 753"/>
                <a:gd name="T58" fmla="*/ 2147483647 w 1553"/>
                <a:gd name="T59" fmla="*/ 2147483647 h 753"/>
                <a:gd name="T60" fmla="*/ 2147483647 w 1553"/>
                <a:gd name="T61" fmla="*/ 2147483647 h 753"/>
                <a:gd name="T62" fmla="*/ 2147483647 w 1553"/>
                <a:gd name="T63" fmla="*/ 2147483647 h 753"/>
                <a:gd name="T64" fmla="*/ 2147483647 w 1553"/>
                <a:gd name="T65" fmla="*/ 2147483647 h 753"/>
                <a:gd name="T66" fmla="*/ 0 w 1553"/>
                <a:gd name="T67" fmla="*/ 2147483647 h 753"/>
                <a:gd name="T68" fmla="*/ 2147483647 w 1553"/>
                <a:gd name="T69" fmla="*/ 2147483647 h 753"/>
                <a:gd name="T70" fmla="*/ 2147483647 w 1553"/>
                <a:gd name="T71" fmla="*/ 2147483647 h 753"/>
                <a:gd name="T72" fmla="*/ 2147483647 w 1553"/>
                <a:gd name="T73" fmla="*/ 2147483647 h 753"/>
                <a:gd name="T74" fmla="*/ 2147483647 w 1553"/>
                <a:gd name="T75" fmla="*/ 2147483647 h 753"/>
                <a:gd name="T76" fmla="*/ 2147483647 w 1553"/>
                <a:gd name="T77" fmla="*/ 2147483647 h 753"/>
                <a:gd name="T78" fmla="*/ 2147483647 w 1553"/>
                <a:gd name="T79" fmla="*/ 2147483647 h 753"/>
                <a:gd name="T80" fmla="*/ 2147483647 w 1553"/>
                <a:gd name="T81" fmla="*/ 2147483647 h 753"/>
                <a:gd name="T82" fmla="*/ 2147483647 w 1553"/>
                <a:gd name="T83" fmla="*/ 2147483647 h 753"/>
                <a:gd name="T84" fmla="*/ 2147483647 w 1553"/>
                <a:gd name="T85" fmla="*/ 2147483647 h 753"/>
                <a:gd name="T86" fmla="*/ 2147483647 w 1553"/>
                <a:gd name="T87" fmla="*/ 2147483647 h 753"/>
                <a:gd name="T88" fmla="*/ 2147483647 w 1553"/>
                <a:gd name="T89" fmla="*/ 2147483647 h 753"/>
                <a:gd name="T90" fmla="*/ 2147483647 w 1553"/>
                <a:gd name="T91" fmla="*/ 2147483647 h 753"/>
                <a:gd name="T92" fmla="*/ 2147483647 w 1553"/>
                <a:gd name="T93" fmla="*/ 2147483647 h 753"/>
                <a:gd name="T94" fmla="*/ 2147483647 w 1553"/>
                <a:gd name="T95" fmla="*/ 2147483647 h 753"/>
                <a:gd name="T96" fmla="*/ 2147483647 w 1553"/>
                <a:gd name="T97" fmla="*/ 2147483647 h 753"/>
                <a:gd name="T98" fmla="*/ 2147483647 w 1553"/>
                <a:gd name="T99" fmla="*/ 2147483647 h 753"/>
                <a:gd name="T100" fmla="*/ 2147483647 w 1553"/>
                <a:gd name="T101" fmla="*/ 2147483647 h 753"/>
                <a:gd name="T102" fmla="*/ 2147483647 w 1553"/>
                <a:gd name="T103" fmla="*/ 2147483647 h 753"/>
                <a:gd name="T104" fmla="*/ 2147483647 w 1553"/>
                <a:gd name="T105" fmla="*/ 2147483647 h 753"/>
                <a:gd name="T106" fmla="*/ 2147483647 w 1553"/>
                <a:gd name="T107" fmla="*/ 2147483647 h 753"/>
                <a:gd name="T108" fmla="*/ 2147483647 w 1553"/>
                <a:gd name="T109" fmla="*/ 2147483647 h 75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553"/>
                <a:gd name="T166" fmla="*/ 0 h 753"/>
                <a:gd name="T167" fmla="*/ 1553 w 1553"/>
                <a:gd name="T168" fmla="*/ 753 h 75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553" h="753">
                  <a:moveTo>
                    <a:pt x="983" y="584"/>
                  </a:moveTo>
                  <a:lnTo>
                    <a:pt x="1417" y="541"/>
                  </a:lnTo>
                  <a:lnTo>
                    <a:pt x="1552" y="150"/>
                  </a:lnTo>
                  <a:lnTo>
                    <a:pt x="1447" y="227"/>
                  </a:lnTo>
                  <a:lnTo>
                    <a:pt x="1398" y="186"/>
                  </a:lnTo>
                  <a:lnTo>
                    <a:pt x="1347" y="149"/>
                  </a:lnTo>
                  <a:lnTo>
                    <a:pt x="1294" y="116"/>
                  </a:lnTo>
                  <a:lnTo>
                    <a:pt x="1238" y="87"/>
                  </a:lnTo>
                  <a:lnTo>
                    <a:pt x="1181" y="61"/>
                  </a:lnTo>
                  <a:lnTo>
                    <a:pt x="1122" y="41"/>
                  </a:lnTo>
                  <a:lnTo>
                    <a:pt x="1060" y="23"/>
                  </a:lnTo>
                  <a:lnTo>
                    <a:pt x="999" y="12"/>
                  </a:lnTo>
                  <a:lnTo>
                    <a:pt x="936" y="4"/>
                  </a:lnTo>
                  <a:lnTo>
                    <a:pt x="873" y="0"/>
                  </a:lnTo>
                  <a:lnTo>
                    <a:pt x="810" y="2"/>
                  </a:lnTo>
                  <a:lnTo>
                    <a:pt x="748" y="8"/>
                  </a:lnTo>
                  <a:lnTo>
                    <a:pt x="685" y="19"/>
                  </a:lnTo>
                  <a:lnTo>
                    <a:pt x="624" y="34"/>
                  </a:lnTo>
                  <a:lnTo>
                    <a:pt x="564" y="53"/>
                  </a:lnTo>
                  <a:lnTo>
                    <a:pt x="506" y="76"/>
                  </a:lnTo>
                  <a:lnTo>
                    <a:pt x="449" y="104"/>
                  </a:lnTo>
                  <a:lnTo>
                    <a:pt x="395" y="137"/>
                  </a:lnTo>
                  <a:lnTo>
                    <a:pt x="342" y="172"/>
                  </a:lnTo>
                  <a:lnTo>
                    <a:pt x="294" y="212"/>
                  </a:lnTo>
                  <a:lnTo>
                    <a:pt x="248" y="254"/>
                  </a:lnTo>
                  <a:lnTo>
                    <a:pt x="205" y="301"/>
                  </a:lnTo>
                  <a:lnTo>
                    <a:pt x="165" y="350"/>
                  </a:lnTo>
                  <a:lnTo>
                    <a:pt x="130" y="401"/>
                  </a:lnTo>
                  <a:lnTo>
                    <a:pt x="98" y="456"/>
                  </a:lnTo>
                  <a:lnTo>
                    <a:pt x="71" y="512"/>
                  </a:lnTo>
                  <a:lnTo>
                    <a:pt x="46" y="570"/>
                  </a:lnTo>
                  <a:lnTo>
                    <a:pt x="27" y="631"/>
                  </a:lnTo>
                  <a:lnTo>
                    <a:pt x="11" y="692"/>
                  </a:lnTo>
                  <a:lnTo>
                    <a:pt x="0" y="752"/>
                  </a:lnTo>
                  <a:lnTo>
                    <a:pt x="222" y="608"/>
                  </a:lnTo>
                  <a:lnTo>
                    <a:pt x="440" y="749"/>
                  </a:lnTo>
                  <a:lnTo>
                    <a:pt x="455" y="710"/>
                  </a:lnTo>
                  <a:lnTo>
                    <a:pt x="474" y="670"/>
                  </a:lnTo>
                  <a:lnTo>
                    <a:pt x="498" y="632"/>
                  </a:lnTo>
                  <a:lnTo>
                    <a:pt x="525" y="596"/>
                  </a:lnTo>
                  <a:lnTo>
                    <a:pt x="556" y="563"/>
                  </a:lnTo>
                  <a:lnTo>
                    <a:pt x="589" y="533"/>
                  </a:lnTo>
                  <a:lnTo>
                    <a:pt x="626" y="507"/>
                  </a:lnTo>
                  <a:lnTo>
                    <a:pt x="665" y="485"/>
                  </a:lnTo>
                  <a:lnTo>
                    <a:pt x="706" y="467"/>
                  </a:lnTo>
                  <a:lnTo>
                    <a:pt x="749" y="453"/>
                  </a:lnTo>
                  <a:lnTo>
                    <a:pt x="793" y="443"/>
                  </a:lnTo>
                  <a:lnTo>
                    <a:pt x="837" y="438"/>
                  </a:lnTo>
                  <a:lnTo>
                    <a:pt x="882" y="438"/>
                  </a:lnTo>
                  <a:lnTo>
                    <a:pt x="927" y="442"/>
                  </a:lnTo>
                  <a:lnTo>
                    <a:pt x="971" y="450"/>
                  </a:lnTo>
                  <a:lnTo>
                    <a:pt x="1014" y="464"/>
                  </a:lnTo>
                  <a:lnTo>
                    <a:pt x="1055" y="480"/>
                  </a:lnTo>
                  <a:lnTo>
                    <a:pt x="1095" y="502"/>
                  </a:lnTo>
                  <a:lnTo>
                    <a:pt x="983" y="584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Clr>
                  <a:schemeClr val="bg1"/>
                </a:buClr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8E91B9F1-2896-44D6-8F77-74F91E4AF81A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387366" y="2427042"/>
              <a:ext cx="1554163" cy="1336675"/>
            </a:xfrm>
            <a:custGeom>
              <a:avLst/>
              <a:gdLst>
                <a:gd name="T0" fmla="*/ 1552890 w 1221"/>
                <a:gd name="T1" fmla="*/ 1300481 h 1071"/>
                <a:gd name="T2" fmla="*/ 1275406 w 1221"/>
                <a:gd name="T3" fmla="*/ 1057109 h 1071"/>
                <a:gd name="T4" fmla="*/ 1375963 w 1221"/>
                <a:gd name="T5" fmla="*/ 786279 h 1071"/>
                <a:gd name="T6" fmla="*/ 1321230 w 1221"/>
                <a:gd name="T7" fmla="*/ 792520 h 1071"/>
                <a:gd name="T8" fmla="*/ 1265223 w 1221"/>
                <a:gd name="T9" fmla="*/ 793768 h 1071"/>
                <a:gd name="T10" fmla="*/ 1209218 w 1221"/>
                <a:gd name="T11" fmla="*/ 791272 h 1071"/>
                <a:gd name="T12" fmla="*/ 1153212 w 1221"/>
                <a:gd name="T13" fmla="*/ 781287 h 1071"/>
                <a:gd name="T14" fmla="*/ 1101024 w 1221"/>
                <a:gd name="T15" fmla="*/ 766310 h 1071"/>
                <a:gd name="T16" fmla="*/ 1047564 w 1221"/>
                <a:gd name="T17" fmla="*/ 747589 h 1071"/>
                <a:gd name="T18" fmla="*/ 997923 w 1221"/>
                <a:gd name="T19" fmla="*/ 722628 h 1071"/>
                <a:gd name="T20" fmla="*/ 950827 w 1221"/>
                <a:gd name="T21" fmla="*/ 693923 h 1071"/>
                <a:gd name="T22" fmla="*/ 907550 w 1221"/>
                <a:gd name="T23" fmla="*/ 658977 h 1071"/>
                <a:gd name="T24" fmla="*/ 868091 w 1221"/>
                <a:gd name="T25" fmla="*/ 619039 h 1071"/>
                <a:gd name="T26" fmla="*/ 831178 w 1221"/>
                <a:gd name="T27" fmla="*/ 577853 h 1071"/>
                <a:gd name="T28" fmla="*/ 800629 w 1221"/>
                <a:gd name="T29" fmla="*/ 532923 h 1071"/>
                <a:gd name="T30" fmla="*/ 775172 w 1221"/>
                <a:gd name="T31" fmla="*/ 486744 h 1071"/>
                <a:gd name="T32" fmla="*/ 756079 w 1221"/>
                <a:gd name="T33" fmla="*/ 439318 h 1071"/>
                <a:gd name="T34" fmla="*/ 739532 w 1221"/>
                <a:gd name="T35" fmla="*/ 391892 h 1071"/>
                <a:gd name="T36" fmla="*/ 729349 w 1221"/>
                <a:gd name="T37" fmla="*/ 340721 h 1071"/>
                <a:gd name="T38" fmla="*/ 722985 w 1221"/>
                <a:gd name="T39" fmla="*/ 289550 h 1071"/>
                <a:gd name="T40" fmla="*/ 906277 w 1221"/>
                <a:gd name="T41" fmla="*/ 289550 h 1071"/>
                <a:gd name="T42" fmla="*/ 468413 w 1221"/>
                <a:gd name="T43" fmla="*/ 0 h 1071"/>
                <a:gd name="T44" fmla="*/ 0 w 1221"/>
                <a:gd name="T45" fmla="*/ 293295 h 1071"/>
                <a:gd name="T46" fmla="*/ 170563 w 1221"/>
                <a:gd name="T47" fmla="*/ 292047 h 1071"/>
                <a:gd name="T48" fmla="*/ 176928 w 1221"/>
                <a:gd name="T49" fmla="*/ 369427 h 1071"/>
                <a:gd name="T50" fmla="*/ 188383 w 1221"/>
                <a:gd name="T51" fmla="*/ 446806 h 1071"/>
                <a:gd name="T52" fmla="*/ 204931 w 1221"/>
                <a:gd name="T53" fmla="*/ 522938 h 1071"/>
                <a:gd name="T54" fmla="*/ 226569 w 1221"/>
                <a:gd name="T55" fmla="*/ 597822 h 1071"/>
                <a:gd name="T56" fmla="*/ 254572 w 1221"/>
                <a:gd name="T57" fmla="*/ 671458 h 1071"/>
                <a:gd name="T58" fmla="*/ 288939 w 1221"/>
                <a:gd name="T59" fmla="*/ 742597 h 1071"/>
                <a:gd name="T60" fmla="*/ 327125 w 1221"/>
                <a:gd name="T61" fmla="*/ 811241 h 1071"/>
                <a:gd name="T62" fmla="*/ 370402 w 1221"/>
                <a:gd name="T63" fmla="*/ 876140 h 1071"/>
                <a:gd name="T64" fmla="*/ 417498 w 1221"/>
                <a:gd name="T65" fmla="*/ 937295 h 1071"/>
                <a:gd name="T66" fmla="*/ 469686 w 1221"/>
                <a:gd name="T67" fmla="*/ 994706 h 1071"/>
                <a:gd name="T68" fmla="*/ 525691 w 1221"/>
                <a:gd name="T69" fmla="*/ 1049620 h 1071"/>
                <a:gd name="T70" fmla="*/ 584243 w 1221"/>
                <a:gd name="T71" fmla="*/ 1100791 h 1071"/>
                <a:gd name="T72" fmla="*/ 647886 w 1221"/>
                <a:gd name="T73" fmla="*/ 1146969 h 1071"/>
                <a:gd name="T74" fmla="*/ 715348 w 1221"/>
                <a:gd name="T75" fmla="*/ 1186907 h 1071"/>
                <a:gd name="T76" fmla="*/ 785355 w 1221"/>
                <a:gd name="T77" fmla="*/ 1224349 h 1071"/>
                <a:gd name="T78" fmla="*/ 856635 w 1221"/>
                <a:gd name="T79" fmla="*/ 1256799 h 1071"/>
                <a:gd name="T80" fmla="*/ 931734 w 1221"/>
                <a:gd name="T81" fmla="*/ 1281760 h 1071"/>
                <a:gd name="T82" fmla="*/ 1006833 w 1221"/>
                <a:gd name="T83" fmla="*/ 1304225 h 1071"/>
                <a:gd name="T84" fmla="*/ 1084477 w 1221"/>
                <a:gd name="T85" fmla="*/ 1319202 h 1071"/>
                <a:gd name="T86" fmla="*/ 1162122 w 1221"/>
                <a:gd name="T87" fmla="*/ 1331683 h 1071"/>
                <a:gd name="T88" fmla="*/ 1241039 w 1221"/>
                <a:gd name="T89" fmla="*/ 1335427 h 1071"/>
                <a:gd name="T90" fmla="*/ 1319957 w 1221"/>
                <a:gd name="T91" fmla="*/ 1335427 h 1071"/>
                <a:gd name="T92" fmla="*/ 1397601 w 1221"/>
                <a:gd name="T93" fmla="*/ 1330435 h 1071"/>
                <a:gd name="T94" fmla="*/ 1476519 w 1221"/>
                <a:gd name="T95" fmla="*/ 1317954 h 1071"/>
                <a:gd name="T96" fmla="*/ 1552890 w 1221"/>
                <a:gd name="T97" fmla="*/ 1300481 h 107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21"/>
                <a:gd name="T148" fmla="*/ 0 h 1071"/>
                <a:gd name="T149" fmla="*/ 1221 w 1221"/>
                <a:gd name="T150" fmla="*/ 1071 h 107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21" h="1071">
                  <a:moveTo>
                    <a:pt x="1220" y="1042"/>
                  </a:moveTo>
                  <a:lnTo>
                    <a:pt x="1002" y="847"/>
                  </a:lnTo>
                  <a:lnTo>
                    <a:pt x="1081" y="630"/>
                  </a:lnTo>
                  <a:lnTo>
                    <a:pt x="1038" y="635"/>
                  </a:lnTo>
                  <a:lnTo>
                    <a:pt x="994" y="636"/>
                  </a:lnTo>
                  <a:lnTo>
                    <a:pt x="950" y="634"/>
                  </a:lnTo>
                  <a:lnTo>
                    <a:pt x="906" y="626"/>
                  </a:lnTo>
                  <a:lnTo>
                    <a:pt x="865" y="614"/>
                  </a:lnTo>
                  <a:lnTo>
                    <a:pt x="823" y="599"/>
                  </a:lnTo>
                  <a:lnTo>
                    <a:pt x="784" y="579"/>
                  </a:lnTo>
                  <a:lnTo>
                    <a:pt x="747" y="556"/>
                  </a:lnTo>
                  <a:lnTo>
                    <a:pt x="713" y="528"/>
                  </a:lnTo>
                  <a:lnTo>
                    <a:pt x="682" y="496"/>
                  </a:lnTo>
                  <a:lnTo>
                    <a:pt x="653" y="463"/>
                  </a:lnTo>
                  <a:lnTo>
                    <a:pt x="629" y="427"/>
                  </a:lnTo>
                  <a:lnTo>
                    <a:pt x="609" y="390"/>
                  </a:lnTo>
                  <a:lnTo>
                    <a:pt x="594" y="352"/>
                  </a:lnTo>
                  <a:lnTo>
                    <a:pt x="581" y="314"/>
                  </a:lnTo>
                  <a:lnTo>
                    <a:pt x="573" y="273"/>
                  </a:lnTo>
                  <a:lnTo>
                    <a:pt x="568" y="232"/>
                  </a:lnTo>
                  <a:lnTo>
                    <a:pt x="712" y="232"/>
                  </a:lnTo>
                  <a:lnTo>
                    <a:pt x="368" y="0"/>
                  </a:lnTo>
                  <a:lnTo>
                    <a:pt x="0" y="235"/>
                  </a:lnTo>
                  <a:lnTo>
                    <a:pt x="134" y="234"/>
                  </a:lnTo>
                  <a:lnTo>
                    <a:pt x="139" y="296"/>
                  </a:lnTo>
                  <a:lnTo>
                    <a:pt x="148" y="358"/>
                  </a:lnTo>
                  <a:lnTo>
                    <a:pt x="161" y="419"/>
                  </a:lnTo>
                  <a:lnTo>
                    <a:pt x="178" y="479"/>
                  </a:lnTo>
                  <a:lnTo>
                    <a:pt x="200" y="538"/>
                  </a:lnTo>
                  <a:lnTo>
                    <a:pt x="227" y="595"/>
                  </a:lnTo>
                  <a:lnTo>
                    <a:pt x="257" y="650"/>
                  </a:lnTo>
                  <a:lnTo>
                    <a:pt x="291" y="702"/>
                  </a:lnTo>
                  <a:lnTo>
                    <a:pt x="328" y="751"/>
                  </a:lnTo>
                  <a:lnTo>
                    <a:pt x="369" y="797"/>
                  </a:lnTo>
                  <a:lnTo>
                    <a:pt x="413" y="841"/>
                  </a:lnTo>
                  <a:lnTo>
                    <a:pt x="459" y="882"/>
                  </a:lnTo>
                  <a:lnTo>
                    <a:pt x="509" y="919"/>
                  </a:lnTo>
                  <a:lnTo>
                    <a:pt x="562" y="951"/>
                  </a:lnTo>
                  <a:lnTo>
                    <a:pt x="617" y="981"/>
                  </a:lnTo>
                  <a:lnTo>
                    <a:pt x="673" y="1007"/>
                  </a:lnTo>
                  <a:lnTo>
                    <a:pt x="732" y="1027"/>
                  </a:lnTo>
                  <a:lnTo>
                    <a:pt x="791" y="1045"/>
                  </a:lnTo>
                  <a:lnTo>
                    <a:pt x="852" y="1057"/>
                  </a:lnTo>
                  <a:lnTo>
                    <a:pt x="913" y="1067"/>
                  </a:lnTo>
                  <a:lnTo>
                    <a:pt x="975" y="1070"/>
                  </a:lnTo>
                  <a:lnTo>
                    <a:pt x="1037" y="1070"/>
                  </a:lnTo>
                  <a:lnTo>
                    <a:pt x="1098" y="1066"/>
                  </a:lnTo>
                  <a:lnTo>
                    <a:pt x="1160" y="1056"/>
                  </a:lnTo>
                  <a:lnTo>
                    <a:pt x="1220" y="1042"/>
                  </a:lnTo>
                </a:path>
              </a:pathLst>
            </a:custGeom>
            <a:grpFill/>
            <a:ln w="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Clr>
                  <a:schemeClr val="bg1"/>
                </a:buClr>
                <a:defRPr/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1BE78BA1-DCDC-47F4-9F0C-2080EDFC84A0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7754204" y="2019054"/>
              <a:ext cx="1009650" cy="1797050"/>
            </a:xfrm>
            <a:custGeom>
              <a:avLst/>
              <a:gdLst>
                <a:gd name="T0" fmla="*/ 2147483647 w 793"/>
                <a:gd name="T1" fmla="*/ 2147483647 h 1440"/>
                <a:gd name="T2" fmla="*/ 2147483647 w 793"/>
                <a:gd name="T3" fmla="*/ 2147483647 h 1440"/>
                <a:gd name="T4" fmla="*/ 2147483647 w 793"/>
                <a:gd name="T5" fmla="*/ 2147483647 h 1440"/>
                <a:gd name="T6" fmla="*/ 2147483647 w 793"/>
                <a:gd name="T7" fmla="*/ 2147483647 h 1440"/>
                <a:gd name="T8" fmla="*/ 2147483647 w 793"/>
                <a:gd name="T9" fmla="*/ 2147483647 h 1440"/>
                <a:gd name="T10" fmla="*/ 2147483647 w 793"/>
                <a:gd name="T11" fmla="*/ 2147483647 h 1440"/>
                <a:gd name="T12" fmla="*/ 2147483647 w 793"/>
                <a:gd name="T13" fmla="*/ 2147483647 h 1440"/>
                <a:gd name="T14" fmla="*/ 2147483647 w 793"/>
                <a:gd name="T15" fmla="*/ 2147483647 h 1440"/>
                <a:gd name="T16" fmla="*/ 2147483647 w 793"/>
                <a:gd name="T17" fmla="*/ 2147483647 h 1440"/>
                <a:gd name="T18" fmla="*/ 2147483647 w 793"/>
                <a:gd name="T19" fmla="*/ 2147483647 h 1440"/>
                <a:gd name="T20" fmla="*/ 2147483647 w 793"/>
                <a:gd name="T21" fmla="*/ 2147483647 h 1440"/>
                <a:gd name="T22" fmla="*/ 2147483647 w 793"/>
                <a:gd name="T23" fmla="*/ 2147483647 h 1440"/>
                <a:gd name="T24" fmla="*/ 2147483647 w 793"/>
                <a:gd name="T25" fmla="*/ 2147483647 h 1440"/>
                <a:gd name="T26" fmla="*/ 2147483647 w 793"/>
                <a:gd name="T27" fmla="*/ 2147483647 h 1440"/>
                <a:gd name="T28" fmla="*/ 2147483647 w 793"/>
                <a:gd name="T29" fmla="*/ 2147483647 h 1440"/>
                <a:gd name="T30" fmla="*/ 2147483647 w 793"/>
                <a:gd name="T31" fmla="*/ 2147483647 h 1440"/>
                <a:gd name="T32" fmla="*/ 2147483647 w 793"/>
                <a:gd name="T33" fmla="*/ 2147483647 h 1440"/>
                <a:gd name="T34" fmla="*/ 2147483647 w 793"/>
                <a:gd name="T35" fmla="*/ 2147483647 h 1440"/>
                <a:gd name="T36" fmla="*/ 2147483647 w 793"/>
                <a:gd name="T37" fmla="*/ 2147483647 h 1440"/>
                <a:gd name="T38" fmla="*/ 2147483647 w 793"/>
                <a:gd name="T39" fmla="*/ 2147483647 h 1440"/>
                <a:gd name="T40" fmla="*/ 2147483647 w 793"/>
                <a:gd name="T41" fmla="*/ 2147483647 h 1440"/>
                <a:gd name="T42" fmla="*/ 2147483647 w 793"/>
                <a:gd name="T43" fmla="*/ 2147483647 h 1440"/>
                <a:gd name="T44" fmla="*/ 2147483647 w 793"/>
                <a:gd name="T45" fmla="*/ 2147483647 h 1440"/>
                <a:gd name="T46" fmla="*/ 2147483647 w 793"/>
                <a:gd name="T47" fmla="*/ 2147483647 h 1440"/>
                <a:gd name="T48" fmla="*/ 2147483647 w 793"/>
                <a:gd name="T49" fmla="*/ 2147483647 h 1440"/>
                <a:gd name="T50" fmla="*/ 2147483647 w 793"/>
                <a:gd name="T51" fmla="*/ 2147483647 h 1440"/>
                <a:gd name="T52" fmla="*/ 2147483647 w 793"/>
                <a:gd name="T53" fmla="*/ 0 h 1440"/>
                <a:gd name="T54" fmla="*/ 2147483647 w 793"/>
                <a:gd name="T55" fmla="*/ 2147483647 h 1440"/>
                <a:gd name="T56" fmla="*/ 2147483647 w 793"/>
                <a:gd name="T57" fmla="*/ 2147483647 h 1440"/>
                <a:gd name="T58" fmla="*/ 2147483647 w 793"/>
                <a:gd name="T59" fmla="*/ 2147483647 h 1440"/>
                <a:gd name="T60" fmla="*/ 2147483647 w 793"/>
                <a:gd name="T61" fmla="*/ 2147483647 h 1440"/>
                <a:gd name="T62" fmla="*/ 2147483647 w 793"/>
                <a:gd name="T63" fmla="*/ 2147483647 h 1440"/>
                <a:gd name="T64" fmla="*/ 2147483647 w 793"/>
                <a:gd name="T65" fmla="*/ 2147483647 h 1440"/>
                <a:gd name="T66" fmla="*/ 2147483647 w 793"/>
                <a:gd name="T67" fmla="*/ 2147483647 h 1440"/>
                <a:gd name="T68" fmla="*/ 2147483647 w 793"/>
                <a:gd name="T69" fmla="*/ 2147483647 h 1440"/>
                <a:gd name="T70" fmla="*/ 2147483647 w 793"/>
                <a:gd name="T71" fmla="*/ 2147483647 h 1440"/>
                <a:gd name="T72" fmla="*/ 2147483647 w 793"/>
                <a:gd name="T73" fmla="*/ 2147483647 h 1440"/>
                <a:gd name="T74" fmla="*/ 2147483647 w 793"/>
                <a:gd name="T75" fmla="*/ 2147483647 h 1440"/>
                <a:gd name="T76" fmla="*/ 2147483647 w 793"/>
                <a:gd name="T77" fmla="*/ 2147483647 h 1440"/>
                <a:gd name="T78" fmla="*/ 2147483647 w 793"/>
                <a:gd name="T79" fmla="*/ 2147483647 h 1440"/>
                <a:gd name="T80" fmla="*/ 2147483647 w 793"/>
                <a:gd name="T81" fmla="*/ 2147483647 h 1440"/>
                <a:gd name="T82" fmla="*/ 2147483647 w 793"/>
                <a:gd name="T83" fmla="*/ 2147483647 h 1440"/>
                <a:gd name="T84" fmla="*/ 2147483647 w 793"/>
                <a:gd name="T85" fmla="*/ 2147483647 h 1440"/>
                <a:gd name="T86" fmla="*/ 2147483647 w 793"/>
                <a:gd name="T87" fmla="*/ 2147483647 h 1440"/>
                <a:gd name="T88" fmla="*/ 2147483647 w 793"/>
                <a:gd name="T89" fmla="*/ 2147483647 h 1440"/>
                <a:gd name="T90" fmla="*/ 2147483647 w 793"/>
                <a:gd name="T91" fmla="*/ 2147483647 h 1440"/>
                <a:gd name="T92" fmla="*/ 0 w 793"/>
                <a:gd name="T93" fmla="*/ 2147483647 h 1440"/>
                <a:gd name="T94" fmla="*/ 2147483647 w 793"/>
                <a:gd name="T95" fmla="*/ 2147483647 h 1440"/>
                <a:gd name="T96" fmla="*/ 2147483647 w 793"/>
                <a:gd name="T97" fmla="*/ 2147483647 h 144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93"/>
                <a:gd name="T148" fmla="*/ 0 h 1440"/>
                <a:gd name="T149" fmla="*/ 793 w 793"/>
                <a:gd name="T150" fmla="*/ 1440 h 144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93" h="1440">
                  <a:moveTo>
                    <a:pt x="286" y="1316"/>
                  </a:moveTo>
                  <a:lnTo>
                    <a:pt x="340" y="1290"/>
                  </a:lnTo>
                  <a:lnTo>
                    <a:pt x="392" y="1260"/>
                  </a:lnTo>
                  <a:lnTo>
                    <a:pt x="442" y="1225"/>
                  </a:lnTo>
                  <a:lnTo>
                    <a:pt x="490" y="1187"/>
                  </a:lnTo>
                  <a:lnTo>
                    <a:pt x="535" y="1146"/>
                  </a:lnTo>
                  <a:lnTo>
                    <a:pt x="576" y="1102"/>
                  </a:lnTo>
                  <a:lnTo>
                    <a:pt x="616" y="1055"/>
                  </a:lnTo>
                  <a:lnTo>
                    <a:pt x="650" y="1005"/>
                  </a:lnTo>
                  <a:lnTo>
                    <a:pt x="682" y="953"/>
                  </a:lnTo>
                  <a:lnTo>
                    <a:pt x="709" y="900"/>
                  </a:lnTo>
                  <a:lnTo>
                    <a:pt x="734" y="844"/>
                  </a:lnTo>
                  <a:lnTo>
                    <a:pt x="753" y="786"/>
                  </a:lnTo>
                  <a:lnTo>
                    <a:pt x="770" y="727"/>
                  </a:lnTo>
                  <a:lnTo>
                    <a:pt x="781" y="668"/>
                  </a:lnTo>
                  <a:lnTo>
                    <a:pt x="789" y="608"/>
                  </a:lnTo>
                  <a:lnTo>
                    <a:pt x="792" y="547"/>
                  </a:lnTo>
                  <a:lnTo>
                    <a:pt x="790" y="487"/>
                  </a:lnTo>
                  <a:lnTo>
                    <a:pt x="786" y="427"/>
                  </a:lnTo>
                  <a:lnTo>
                    <a:pt x="775" y="367"/>
                  </a:lnTo>
                  <a:lnTo>
                    <a:pt x="762" y="308"/>
                  </a:lnTo>
                  <a:lnTo>
                    <a:pt x="744" y="249"/>
                  </a:lnTo>
                  <a:lnTo>
                    <a:pt x="722" y="193"/>
                  </a:lnTo>
                  <a:lnTo>
                    <a:pt x="697" y="137"/>
                  </a:lnTo>
                  <a:lnTo>
                    <a:pt x="667" y="84"/>
                  </a:lnTo>
                  <a:lnTo>
                    <a:pt x="639" y="41"/>
                  </a:lnTo>
                  <a:lnTo>
                    <a:pt x="609" y="0"/>
                  </a:lnTo>
                  <a:lnTo>
                    <a:pt x="521" y="247"/>
                  </a:lnTo>
                  <a:lnTo>
                    <a:pt x="277" y="280"/>
                  </a:lnTo>
                  <a:lnTo>
                    <a:pt x="294" y="308"/>
                  </a:lnTo>
                  <a:lnTo>
                    <a:pt x="316" y="347"/>
                  </a:lnTo>
                  <a:lnTo>
                    <a:pt x="332" y="389"/>
                  </a:lnTo>
                  <a:lnTo>
                    <a:pt x="345" y="431"/>
                  </a:lnTo>
                  <a:lnTo>
                    <a:pt x="353" y="475"/>
                  </a:lnTo>
                  <a:lnTo>
                    <a:pt x="357" y="519"/>
                  </a:lnTo>
                  <a:lnTo>
                    <a:pt x="355" y="564"/>
                  </a:lnTo>
                  <a:lnTo>
                    <a:pt x="350" y="608"/>
                  </a:lnTo>
                  <a:lnTo>
                    <a:pt x="339" y="652"/>
                  </a:lnTo>
                  <a:lnTo>
                    <a:pt x="325" y="694"/>
                  </a:lnTo>
                  <a:lnTo>
                    <a:pt x="306" y="734"/>
                  </a:lnTo>
                  <a:lnTo>
                    <a:pt x="284" y="772"/>
                  </a:lnTo>
                  <a:lnTo>
                    <a:pt x="257" y="808"/>
                  </a:lnTo>
                  <a:lnTo>
                    <a:pt x="227" y="841"/>
                  </a:lnTo>
                  <a:lnTo>
                    <a:pt x="193" y="871"/>
                  </a:lnTo>
                  <a:lnTo>
                    <a:pt x="156" y="896"/>
                  </a:lnTo>
                  <a:lnTo>
                    <a:pt x="113" y="761"/>
                  </a:lnTo>
                  <a:lnTo>
                    <a:pt x="0" y="1169"/>
                  </a:lnTo>
                  <a:lnTo>
                    <a:pt x="321" y="1439"/>
                  </a:lnTo>
                  <a:lnTo>
                    <a:pt x="286" y="1316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Clr>
                  <a:schemeClr val="bg1"/>
                </a:buClr>
              </a:pP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6CDC3D48-A8F4-406D-AF0B-F94680F78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Scenario 4: “Clinical Information Reconciliation and Incorporation (CIRI)”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DEAD6-CDA2-4870-91F1-2EBF18E5C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84344"/>
            <a:ext cx="7886700" cy="3263400"/>
          </a:xfrm>
        </p:spPr>
        <p:txBody>
          <a:bodyPr/>
          <a:lstStyle/>
          <a:p>
            <a:pPr marL="857250" lvl="1" indent="-457200">
              <a:buFont typeface="Arial" panose="020B0604020202020204" pitchFamily="34" charset="0"/>
              <a:buAutoNum type="arabicPeriod"/>
            </a:pPr>
            <a:r>
              <a:rPr lang="en-US" dirty="0"/>
              <a:t>Provider stores information in their system – may have made changes.</a:t>
            </a:r>
          </a:p>
          <a:p>
            <a:pPr marL="857250" lvl="1" indent="-457200">
              <a:buFont typeface="Arial" panose="020B0604020202020204" pitchFamily="34" charset="0"/>
              <a:buAutoNum type="arabicPeriod"/>
            </a:pPr>
            <a:r>
              <a:rPr lang="en-US" dirty="0"/>
              <a:t>Patient or provider accesses information.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261E0C-0A22-46A8-84D0-853A9ADD226D}"/>
              </a:ext>
            </a:extLst>
          </p:cNvPr>
          <p:cNvCxnSpPr>
            <a:cxnSpLocks/>
          </p:cNvCxnSpPr>
          <p:nvPr/>
        </p:nvCxnSpPr>
        <p:spPr>
          <a:xfrm>
            <a:off x="2561246" y="3783865"/>
            <a:ext cx="1511566" cy="53136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9330AB-941C-4D29-9D0D-3FC899C96613}"/>
              </a:ext>
            </a:extLst>
          </p:cNvPr>
          <p:cNvCxnSpPr>
            <a:cxnSpLocks/>
          </p:cNvCxnSpPr>
          <p:nvPr/>
        </p:nvCxnSpPr>
        <p:spPr>
          <a:xfrm flipV="1">
            <a:off x="2561246" y="4350124"/>
            <a:ext cx="1511566" cy="79910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31">
            <a:extLst>
              <a:ext uri="{FF2B5EF4-FFF2-40B4-BE49-F238E27FC236}">
                <a16:creationId xmlns:a16="http://schemas.microsoft.com/office/drawing/2014/main" id="{8F25CD59-5C31-44AF-9758-ACFEA2689B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49769" y="4597640"/>
            <a:ext cx="993405" cy="993405"/>
            <a:chOff x="3628" y="1334"/>
            <a:chExt cx="340" cy="340"/>
          </a:xfrm>
          <a:solidFill>
            <a:schemeClr val="accent6">
              <a:lumMod val="50000"/>
            </a:schemeClr>
          </a:solidFill>
        </p:grpSpPr>
        <p:sp>
          <p:nvSpPr>
            <p:cNvPr id="39" name="Freeform 332">
              <a:extLst>
                <a:ext uri="{FF2B5EF4-FFF2-40B4-BE49-F238E27FC236}">
                  <a16:creationId xmlns:a16="http://schemas.microsoft.com/office/drawing/2014/main" id="{26E3F2B7-6AE9-4A06-9E50-2AE6729DBA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Freeform 333">
              <a:extLst>
                <a:ext uri="{FF2B5EF4-FFF2-40B4-BE49-F238E27FC236}">
                  <a16:creationId xmlns:a16="http://schemas.microsoft.com/office/drawing/2014/main" id="{65EC128A-7CC9-47A1-A799-B2E5B73755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8" name="Group 331">
            <a:extLst>
              <a:ext uri="{FF2B5EF4-FFF2-40B4-BE49-F238E27FC236}">
                <a16:creationId xmlns:a16="http://schemas.microsoft.com/office/drawing/2014/main" id="{94B179D6-1BE3-464B-9E69-5AD30E3FA8E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49769" y="3209367"/>
            <a:ext cx="993405" cy="993405"/>
            <a:chOff x="3628" y="1334"/>
            <a:chExt cx="340" cy="340"/>
          </a:xfrm>
          <a:solidFill>
            <a:schemeClr val="tx1"/>
          </a:solidFill>
        </p:grpSpPr>
        <p:sp>
          <p:nvSpPr>
            <p:cNvPr id="49" name="Freeform 332">
              <a:extLst>
                <a:ext uri="{FF2B5EF4-FFF2-40B4-BE49-F238E27FC236}">
                  <a16:creationId xmlns:a16="http://schemas.microsoft.com/office/drawing/2014/main" id="{59133D8E-68DA-45BD-B682-134223BCB5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Freeform 333">
              <a:extLst>
                <a:ext uri="{FF2B5EF4-FFF2-40B4-BE49-F238E27FC236}">
                  <a16:creationId xmlns:a16="http://schemas.microsoft.com/office/drawing/2014/main" id="{9F991A20-701F-4E11-8B7D-CB58D90BB7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C70D5D8-DD7C-4973-8512-BE209352CDC5}"/>
              </a:ext>
            </a:extLst>
          </p:cNvPr>
          <p:cNvGrpSpPr/>
          <p:nvPr/>
        </p:nvGrpSpPr>
        <p:grpSpPr>
          <a:xfrm>
            <a:off x="6225459" y="3791992"/>
            <a:ext cx="457200" cy="365760"/>
            <a:chOff x="6159808" y="3136536"/>
            <a:chExt cx="843666" cy="603853"/>
          </a:xfrm>
        </p:grpSpPr>
        <p:sp>
          <p:nvSpPr>
            <p:cNvPr id="51" name="Freeform 909">
              <a:extLst>
                <a:ext uri="{FF2B5EF4-FFF2-40B4-BE49-F238E27FC236}">
                  <a16:creationId xmlns:a16="http://schemas.microsoft.com/office/drawing/2014/main" id="{2A2413FA-8BF0-4B0F-B2B1-7B807F6E12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59808" y="3136536"/>
              <a:ext cx="843666" cy="603853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solidFill>
              <a:schemeClr val="accent1"/>
            </a:solidFill>
            <a:ln w="0">
              <a:solidFill>
                <a:schemeClr val="accent5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2" name="Freeform 215">
              <a:extLst>
                <a:ext uri="{FF2B5EF4-FFF2-40B4-BE49-F238E27FC236}">
                  <a16:creationId xmlns:a16="http://schemas.microsoft.com/office/drawing/2014/main" id="{F1BBCA86-56E2-4710-B681-4EF44DA7E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6709" y="3381190"/>
              <a:ext cx="511454" cy="51533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solidFill>
                <a:schemeClr val="accent5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215">
              <a:extLst>
                <a:ext uri="{FF2B5EF4-FFF2-40B4-BE49-F238E27FC236}">
                  <a16:creationId xmlns:a16="http://schemas.microsoft.com/office/drawing/2014/main" id="{89A7A3DF-F9DF-49DF-9699-B1823509C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6708" y="3474267"/>
              <a:ext cx="511454" cy="51533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chemeClr val="tx1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215">
              <a:extLst>
                <a:ext uri="{FF2B5EF4-FFF2-40B4-BE49-F238E27FC236}">
                  <a16:creationId xmlns:a16="http://schemas.microsoft.com/office/drawing/2014/main" id="{29186C8F-EF57-4F8F-B8FC-0CF39721B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6707" y="3567180"/>
              <a:ext cx="511454" cy="51533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175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24889D9-873E-433B-AA7C-C11268D12B80}"/>
              </a:ext>
            </a:extLst>
          </p:cNvPr>
          <p:cNvGrpSpPr/>
          <p:nvPr/>
        </p:nvGrpSpPr>
        <p:grpSpPr>
          <a:xfrm>
            <a:off x="2928914" y="3603906"/>
            <a:ext cx="335376" cy="252571"/>
            <a:chOff x="6204686" y="3153320"/>
            <a:chExt cx="898499" cy="616634"/>
          </a:xfrm>
        </p:grpSpPr>
        <p:sp>
          <p:nvSpPr>
            <p:cNvPr id="57" name="Freeform 909">
              <a:extLst>
                <a:ext uri="{FF2B5EF4-FFF2-40B4-BE49-F238E27FC236}">
                  <a16:creationId xmlns:a16="http://schemas.microsoft.com/office/drawing/2014/main" id="{48D87BAB-7269-4BA0-BE59-A97C6FBD1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8" name="Freeform 215">
              <a:extLst>
                <a:ext uri="{FF2B5EF4-FFF2-40B4-BE49-F238E27FC236}">
                  <a16:creationId xmlns:a16="http://schemas.microsoft.com/office/drawing/2014/main" id="{9256CD8E-0943-4E8C-8B00-27FE27004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9797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215">
              <a:extLst>
                <a:ext uri="{FF2B5EF4-FFF2-40B4-BE49-F238E27FC236}">
                  <a16:creationId xmlns:a16="http://schemas.microsoft.com/office/drawing/2014/main" id="{C2FFDBA4-0070-4335-868B-4D0415AC1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6" y="3491051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chemeClr val="tx1"/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215">
              <a:extLst>
                <a:ext uri="{FF2B5EF4-FFF2-40B4-BE49-F238E27FC236}">
                  <a16:creationId xmlns:a16="http://schemas.microsoft.com/office/drawing/2014/main" id="{DF79FAE4-6FDF-4589-9BFF-D05F1B4DB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5" y="358396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chemeClr val="tx1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D626E2D-8777-4A3C-9932-CE38E369C624}"/>
              </a:ext>
            </a:extLst>
          </p:cNvPr>
          <p:cNvGrpSpPr/>
          <p:nvPr/>
        </p:nvGrpSpPr>
        <p:grpSpPr>
          <a:xfrm>
            <a:off x="2928914" y="4471354"/>
            <a:ext cx="335376" cy="252571"/>
            <a:chOff x="6204686" y="3153320"/>
            <a:chExt cx="898499" cy="616634"/>
          </a:xfrm>
          <a:solidFill>
            <a:schemeClr val="accent6">
              <a:lumMod val="50000"/>
            </a:schemeClr>
          </a:solidFill>
        </p:grpSpPr>
        <p:sp>
          <p:nvSpPr>
            <p:cNvPr id="67" name="Freeform 909">
              <a:extLst>
                <a:ext uri="{FF2B5EF4-FFF2-40B4-BE49-F238E27FC236}">
                  <a16:creationId xmlns:a16="http://schemas.microsoft.com/office/drawing/2014/main" id="{9EE3588C-DA9E-486C-878F-0DF9695987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4686" y="3153320"/>
              <a:ext cx="898499" cy="616634"/>
            </a:xfrm>
            <a:custGeom>
              <a:avLst/>
              <a:gdLst>
                <a:gd name="T0" fmla="*/ 309 w 320"/>
                <a:gd name="T1" fmla="*/ 235 h 235"/>
                <a:gd name="T2" fmla="*/ 10 w 320"/>
                <a:gd name="T3" fmla="*/ 235 h 235"/>
                <a:gd name="T4" fmla="*/ 0 w 320"/>
                <a:gd name="T5" fmla="*/ 224 h 235"/>
                <a:gd name="T6" fmla="*/ 0 w 320"/>
                <a:gd name="T7" fmla="*/ 11 h 235"/>
                <a:gd name="T8" fmla="*/ 10 w 320"/>
                <a:gd name="T9" fmla="*/ 0 h 235"/>
                <a:gd name="T10" fmla="*/ 96 w 320"/>
                <a:gd name="T11" fmla="*/ 0 h 235"/>
                <a:gd name="T12" fmla="*/ 105 w 320"/>
                <a:gd name="T13" fmla="*/ 5 h 235"/>
                <a:gd name="T14" fmla="*/ 123 w 320"/>
                <a:gd name="T15" fmla="*/ 32 h 235"/>
                <a:gd name="T16" fmla="*/ 309 w 320"/>
                <a:gd name="T17" fmla="*/ 32 h 235"/>
                <a:gd name="T18" fmla="*/ 320 w 320"/>
                <a:gd name="T19" fmla="*/ 43 h 235"/>
                <a:gd name="T20" fmla="*/ 320 w 320"/>
                <a:gd name="T21" fmla="*/ 224 h 235"/>
                <a:gd name="T22" fmla="*/ 309 w 320"/>
                <a:gd name="T23" fmla="*/ 235 h 235"/>
                <a:gd name="T24" fmla="*/ 21 w 320"/>
                <a:gd name="T25" fmla="*/ 214 h 235"/>
                <a:gd name="T26" fmla="*/ 298 w 320"/>
                <a:gd name="T27" fmla="*/ 214 h 235"/>
                <a:gd name="T28" fmla="*/ 298 w 320"/>
                <a:gd name="T29" fmla="*/ 54 h 235"/>
                <a:gd name="T30" fmla="*/ 117 w 320"/>
                <a:gd name="T31" fmla="*/ 54 h 235"/>
                <a:gd name="T32" fmla="*/ 108 w 320"/>
                <a:gd name="T33" fmla="*/ 49 h 235"/>
                <a:gd name="T34" fmla="*/ 90 w 320"/>
                <a:gd name="T35" fmla="*/ 22 h 235"/>
                <a:gd name="T36" fmla="*/ 21 w 320"/>
                <a:gd name="T37" fmla="*/ 22 h 235"/>
                <a:gd name="T38" fmla="*/ 21 w 320"/>
                <a:gd name="T39" fmla="*/ 214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0" h="235">
                  <a:moveTo>
                    <a:pt x="309" y="235"/>
                  </a:moveTo>
                  <a:cubicBezTo>
                    <a:pt x="10" y="235"/>
                    <a:pt x="10" y="235"/>
                    <a:pt x="10" y="235"/>
                  </a:cubicBezTo>
                  <a:cubicBezTo>
                    <a:pt x="4" y="235"/>
                    <a:pt x="0" y="230"/>
                    <a:pt x="0" y="2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3" y="2"/>
                    <a:pt x="105" y="5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309" y="32"/>
                    <a:pt x="309" y="32"/>
                    <a:pt x="309" y="32"/>
                  </a:cubicBezTo>
                  <a:cubicBezTo>
                    <a:pt x="315" y="32"/>
                    <a:pt x="320" y="37"/>
                    <a:pt x="320" y="43"/>
                  </a:cubicBezTo>
                  <a:cubicBezTo>
                    <a:pt x="320" y="224"/>
                    <a:pt x="320" y="224"/>
                    <a:pt x="320" y="224"/>
                  </a:cubicBezTo>
                  <a:cubicBezTo>
                    <a:pt x="320" y="230"/>
                    <a:pt x="315" y="235"/>
                    <a:pt x="309" y="235"/>
                  </a:cubicBezTo>
                  <a:close/>
                  <a:moveTo>
                    <a:pt x="21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54"/>
                    <a:pt x="298" y="54"/>
                    <a:pt x="298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3" y="54"/>
                    <a:pt x="110" y="52"/>
                    <a:pt x="108" y="49"/>
                  </a:cubicBezTo>
                  <a:cubicBezTo>
                    <a:pt x="90" y="22"/>
                    <a:pt x="90" y="22"/>
                    <a:pt x="90" y="22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1" y="214"/>
                  </a:lnTo>
                  <a:close/>
                </a:path>
              </a:pathLst>
            </a:custGeom>
            <a:grpFill/>
            <a:ln w="0">
              <a:solidFill>
                <a:schemeClr val="accent6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8" name="Freeform 215">
              <a:extLst>
                <a:ext uri="{FF2B5EF4-FFF2-40B4-BE49-F238E27FC236}">
                  <a16:creationId xmlns:a16="http://schemas.microsoft.com/office/drawing/2014/main" id="{F4A2E77F-8E90-4B78-BCFD-A5FD6BA80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7" y="339797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0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215">
              <a:extLst>
                <a:ext uri="{FF2B5EF4-FFF2-40B4-BE49-F238E27FC236}">
                  <a16:creationId xmlns:a16="http://schemas.microsoft.com/office/drawing/2014/main" id="{A9EF1960-7EAB-428C-875F-F75216F2B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6" y="3491051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chemeClr val="accent6">
                  <a:lumMod val="50000"/>
                </a:schemeClr>
              </a:solidFill>
              <a:beve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215">
              <a:extLst>
                <a:ext uri="{FF2B5EF4-FFF2-40B4-BE49-F238E27FC236}">
                  <a16:creationId xmlns:a16="http://schemas.microsoft.com/office/drawing/2014/main" id="{59800CED-D886-4BE7-AB79-921D65CE5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585" y="3583964"/>
              <a:ext cx="544695" cy="52624"/>
            </a:xfrm>
            <a:custGeom>
              <a:avLst/>
              <a:gdLst>
                <a:gd name="T0" fmla="*/ 75 w 85"/>
                <a:gd name="T1" fmla="*/ 0 h 21"/>
                <a:gd name="T2" fmla="*/ 11 w 85"/>
                <a:gd name="T3" fmla="*/ 0 h 21"/>
                <a:gd name="T4" fmla="*/ 0 w 85"/>
                <a:gd name="T5" fmla="*/ 10 h 21"/>
                <a:gd name="T6" fmla="*/ 11 w 85"/>
                <a:gd name="T7" fmla="*/ 21 h 21"/>
                <a:gd name="T8" fmla="*/ 75 w 85"/>
                <a:gd name="T9" fmla="*/ 21 h 21"/>
                <a:gd name="T10" fmla="*/ 85 w 85"/>
                <a:gd name="T11" fmla="*/ 10 h 21"/>
                <a:gd name="T12" fmla="*/ 75 w 85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7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81" y="21"/>
                    <a:pt x="85" y="16"/>
                    <a:pt x="85" y="10"/>
                  </a:cubicBezTo>
                  <a:cubicBezTo>
                    <a:pt x="85" y="4"/>
                    <a:pt x="81" y="0"/>
                    <a:pt x="75" y="0"/>
                  </a:cubicBezTo>
                  <a:close/>
                </a:path>
              </a:pathLst>
            </a:custGeom>
            <a:grpFill/>
            <a:ln w="3175">
              <a:solidFill>
                <a:schemeClr val="accent6">
                  <a:lumMod val="50000"/>
                </a:schemeClr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78" name="Group 331">
            <a:extLst>
              <a:ext uri="{FF2B5EF4-FFF2-40B4-BE49-F238E27FC236}">
                <a16:creationId xmlns:a16="http://schemas.microsoft.com/office/drawing/2014/main" id="{A7950080-B1A2-401C-9DA2-6D4517B117C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33650" y="4007797"/>
            <a:ext cx="645654" cy="648136"/>
            <a:chOff x="3628" y="1334"/>
            <a:chExt cx="340" cy="340"/>
          </a:xfrm>
          <a:solidFill>
            <a:schemeClr val="accent1"/>
          </a:solidFill>
        </p:grpSpPr>
        <p:sp>
          <p:nvSpPr>
            <p:cNvPr id="79" name="Freeform 332">
              <a:extLst>
                <a:ext uri="{FF2B5EF4-FFF2-40B4-BE49-F238E27FC236}">
                  <a16:creationId xmlns:a16="http://schemas.microsoft.com/office/drawing/2014/main" id="{37CE513A-18E7-49F0-9327-AB00462FFF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" y="1334"/>
              <a:ext cx="340" cy="340"/>
            </a:xfrm>
            <a:custGeom>
              <a:avLst/>
              <a:gdLst>
                <a:gd name="T0" fmla="*/ 256 w 512"/>
                <a:gd name="T1" fmla="*/ 22 h 512"/>
                <a:gd name="T2" fmla="*/ 491 w 512"/>
                <a:gd name="T3" fmla="*/ 256 h 512"/>
                <a:gd name="T4" fmla="*/ 256 w 512"/>
                <a:gd name="T5" fmla="*/ 491 h 512"/>
                <a:gd name="T6" fmla="*/ 21 w 512"/>
                <a:gd name="T7" fmla="*/ 256 h 512"/>
                <a:gd name="T8" fmla="*/ 256 w 512"/>
                <a:gd name="T9" fmla="*/ 22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2"/>
                  </a:moveTo>
                  <a:cubicBezTo>
                    <a:pt x="385" y="22"/>
                    <a:pt x="491" y="127"/>
                    <a:pt x="491" y="256"/>
                  </a:cubicBezTo>
                  <a:cubicBezTo>
                    <a:pt x="491" y="386"/>
                    <a:pt x="385" y="491"/>
                    <a:pt x="256" y="491"/>
                  </a:cubicBezTo>
                  <a:cubicBezTo>
                    <a:pt x="127" y="491"/>
                    <a:pt x="21" y="386"/>
                    <a:pt x="21" y="256"/>
                  </a:cubicBezTo>
                  <a:cubicBezTo>
                    <a:pt x="21" y="127"/>
                    <a:pt x="127" y="22"/>
                    <a:pt x="256" y="22"/>
                  </a:cubicBezTo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8"/>
                    <a:pt x="115" y="512"/>
                    <a:pt x="256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5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Freeform 333">
              <a:extLst>
                <a:ext uri="{FF2B5EF4-FFF2-40B4-BE49-F238E27FC236}">
                  <a16:creationId xmlns:a16="http://schemas.microsoft.com/office/drawing/2014/main" id="{58C7FF5F-BE19-42F6-ABDE-23108C85EA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9" y="1398"/>
              <a:ext cx="198" cy="198"/>
            </a:xfrm>
            <a:custGeom>
              <a:avLst/>
              <a:gdLst>
                <a:gd name="T0" fmla="*/ 170 w 298"/>
                <a:gd name="T1" fmla="*/ 86 h 299"/>
                <a:gd name="T2" fmla="*/ 160 w 298"/>
                <a:gd name="T3" fmla="*/ 96 h 299"/>
                <a:gd name="T4" fmla="*/ 138 w 298"/>
                <a:gd name="T5" fmla="*/ 96 h 299"/>
                <a:gd name="T6" fmla="*/ 128 w 298"/>
                <a:gd name="T7" fmla="*/ 86 h 299"/>
                <a:gd name="T8" fmla="*/ 128 w 298"/>
                <a:gd name="T9" fmla="*/ 64 h 299"/>
                <a:gd name="T10" fmla="*/ 138 w 298"/>
                <a:gd name="T11" fmla="*/ 54 h 299"/>
                <a:gd name="T12" fmla="*/ 160 w 298"/>
                <a:gd name="T13" fmla="*/ 54 h 299"/>
                <a:gd name="T14" fmla="*/ 170 w 298"/>
                <a:gd name="T15" fmla="*/ 64 h 299"/>
                <a:gd name="T16" fmla="*/ 298 w 298"/>
                <a:gd name="T17" fmla="*/ 75 h 299"/>
                <a:gd name="T18" fmla="*/ 288 w 298"/>
                <a:gd name="T19" fmla="*/ 288 h 299"/>
                <a:gd name="T20" fmla="*/ 21 w 298"/>
                <a:gd name="T21" fmla="*/ 299 h 299"/>
                <a:gd name="T22" fmla="*/ 10 w 298"/>
                <a:gd name="T23" fmla="*/ 86 h 299"/>
                <a:gd name="T24" fmla="*/ 10 w 298"/>
                <a:gd name="T25" fmla="*/ 64 h 299"/>
                <a:gd name="T26" fmla="*/ 74 w 298"/>
                <a:gd name="T27" fmla="*/ 11 h 299"/>
                <a:gd name="T28" fmla="*/ 213 w 298"/>
                <a:gd name="T29" fmla="*/ 0 h 299"/>
                <a:gd name="T30" fmla="*/ 224 w 298"/>
                <a:gd name="T31" fmla="*/ 64 h 299"/>
                <a:gd name="T32" fmla="*/ 298 w 298"/>
                <a:gd name="T33" fmla="*/ 75 h 299"/>
                <a:gd name="T34" fmla="*/ 160 w 298"/>
                <a:gd name="T35" fmla="*/ 278 h 299"/>
                <a:gd name="T36" fmla="*/ 181 w 298"/>
                <a:gd name="T37" fmla="*/ 214 h 299"/>
                <a:gd name="T38" fmla="*/ 138 w 298"/>
                <a:gd name="T39" fmla="*/ 214 h 299"/>
                <a:gd name="T40" fmla="*/ 117 w 298"/>
                <a:gd name="T41" fmla="*/ 278 h 299"/>
                <a:gd name="T42" fmla="*/ 138 w 298"/>
                <a:gd name="T43" fmla="*/ 214 h 299"/>
                <a:gd name="T44" fmla="*/ 213 w 298"/>
                <a:gd name="T45" fmla="*/ 86 h 299"/>
                <a:gd name="T46" fmla="*/ 202 w 298"/>
                <a:gd name="T47" fmla="*/ 22 h 299"/>
                <a:gd name="T48" fmla="*/ 96 w 298"/>
                <a:gd name="T49" fmla="*/ 75 h 299"/>
                <a:gd name="T50" fmla="*/ 32 w 298"/>
                <a:gd name="T51" fmla="*/ 86 h 299"/>
                <a:gd name="T52" fmla="*/ 96 w 298"/>
                <a:gd name="T53" fmla="*/ 278 h 299"/>
                <a:gd name="T54" fmla="*/ 106 w 298"/>
                <a:gd name="T55" fmla="*/ 192 h 299"/>
                <a:gd name="T56" fmla="*/ 202 w 298"/>
                <a:gd name="T57" fmla="*/ 203 h 299"/>
                <a:gd name="T58" fmla="*/ 266 w 298"/>
                <a:gd name="T59" fmla="*/ 278 h 299"/>
                <a:gd name="T60" fmla="*/ 64 w 298"/>
                <a:gd name="T61" fmla="*/ 107 h 299"/>
                <a:gd name="T62" fmla="*/ 64 w 298"/>
                <a:gd name="T63" fmla="*/ 128 h 299"/>
                <a:gd name="T64" fmla="*/ 64 w 298"/>
                <a:gd name="T65" fmla="*/ 107 h 299"/>
                <a:gd name="T66" fmla="*/ 53 w 298"/>
                <a:gd name="T67" fmla="*/ 160 h 299"/>
                <a:gd name="T68" fmla="*/ 74 w 298"/>
                <a:gd name="T69" fmla="*/ 160 h 299"/>
                <a:gd name="T70" fmla="*/ 106 w 298"/>
                <a:gd name="T71" fmla="*/ 150 h 299"/>
                <a:gd name="T72" fmla="*/ 106 w 298"/>
                <a:gd name="T73" fmla="*/ 171 h 299"/>
                <a:gd name="T74" fmla="*/ 106 w 298"/>
                <a:gd name="T75" fmla="*/ 150 h 299"/>
                <a:gd name="T76" fmla="*/ 96 w 298"/>
                <a:gd name="T77" fmla="*/ 118 h 299"/>
                <a:gd name="T78" fmla="*/ 117 w 298"/>
                <a:gd name="T79" fmla="*/ 118 h 299"/>
                <a:gd name="T80" fmla="*/ 149 w 298"/>
                <a:gd name="T81" fmla="*/ 150 h 299"/>
                <a:gd name="T82" fmla="*/ 149 w 298"/>
                <a:gd name="T83" fmla="*/ 171 h 299"/>
                <a:gd name="T84" fmla="*/ 149 w 298"/>
                <a:gd name="T85" fmla="*/ 150 h 299"/>
                <a:gd name="T86" fmla="*/ 181 w 298"/>
                <a:gd name="T87" fmla="*/ 160 h 299"/>
                <a:gd name="T88" fmla="*/ 202 w 298"/>
                <a:gd name="T89" fmla="*/ 160 h 299"/>
                <a:gd name="T90" fmla="*/ 192 w 298"/>
                <a:gd name="T91" fmla="*/ 107 h 299"/>
                <a:gd name="T92" fmla="*/ 192 w 298"/>
                <a:gd name="T93" fmla="*/ 128 h 299"/>
                <a:gd name="T94" fmla="*/ 192 w 298"/>
                <a:gd name="T95" fmla="*/ 107 h 299"/>
                <a:gd name="T96" fmla="*/ 53 w 298"/>
                <a:gd name="T97" fmla="*/ 203 h 299"/>
                <a:gd name="T98" fmla="*/ 74 w 298"/>
                <a:gd name="T99" fmla="*/ 203 h 299"/>
                <a:gd name="T100" fmla="*/ 64 w 298"/>
                <a:gd name="T101" fmla="*/ 235 h 299"/>
                <a:gd name="T102" fmla="*/ 64 w 298"/>
                <a:gd name="T103" fmla="*/ 256 h 299"/>
                <a:gd name="T104" fmla="*/ 64 w 298"/>
                <a:gd name="T105" fmla="*/ 235 h 299"/>
                <a:gd name="T106" fmla="*/ 245 w 298"/>
                <a:gd name="T107" fmla="*/ 118 h 299"/>
                <a:gd name="T108" fmla="*/ 224 w 298"/>
                <a:gd name="T109" fmla="*/ 118 h 299"/>
                <a:gd name="T110" fmla="*/ 234 w 298"/>
                <a:gd name="T111" fmla="*/ 171 h 299"/>
                <a:gd name="T112" fmla="*/ 234 w 298"/>
                <a:gd name="T113" fmla="*/ 150 h 299"/>
                <a:gd name="T114" fmla="*/ 234 w 298"/>
                <a:gd name="T115" fmla="*/ 171 h 299"/>
                <a:gd name="T116" fmla="*/ 245 w 298"/>
                <a:gd name="T117" fmla="*/ 203 h 299"/>
                <a:gd name="T118" fmla="*/ 224 w 298"/>
                <a:gd name="T119" fmla="*/ 203 h 299"/>
                <a:gd name="T120" fmla="*/ 234 w 298"/>
                <a:gd name="T121" fmla="*/ 256 h 299"/>
                <a:gd name="T122" fmla="*/ 234 w 298"/>
                <a:gd name="T123" fmla="*/ 235 h 299"/>
                <a:gd name="T124" fmla="*/ 234 w 298"/>
                <a:gd name="T125" fmla="*/ 256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8" h="299">
                  <a:moveTo>
                    <a:pt x="181" y="75"/>
                  </a:moveTo>
                  <a:cubicBezTo>
                    <a:pt x="181" y="81"/>
                    <a:pt x="176" y="86"/>
                    <a:pt x="17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96"/>
                    <a:pt x="160" y="96"/>
                    <a:pt x="160" y="96"/>
                  </a:cubicBezTo>
                  <a:cubicBezTo>
                    <a:pt x="160" y="102"/>
                    <a:pt x="155" y="107"/>
                    <a:pt x="149" y="107"/>
                  </a:cubicBezTo>
                  <a:cubicBezTo>
                    <a:pt x="143" y="107"/>
                    <a:pt x="138" y="102"/>
                    <a:pt x="138" y="96"/>
                  </a:cubicBezTo>
                  <a:cubicBezTo>
                    <a:pt x="138" y="86"/>
                    <a:pt x="138" y="86"/>
                    <a:pt x="138" y="8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2" y="86"/>
                    <a:pt x="117" y="81"/>
                    <a:pt x="117" y="75"/>
                  </a:cubicBezTo>
                  <a:cubicBezTo>
                    <a:pt x="117" y="69"/>
                    <a:pt x="122" y="64"/>
                    <a:pt x="128" y="64"/>
                  </a:cubicBezTo>
                  <a:cubicBezTo>
                    <a:pt x="138" y="64"/>
                    <a:pt x="138" y="64"/>
                    <a:pt x="138" y="64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48"/>
                    <a:pt x="143" y="43"/>
                    <a:pt x="149" y="43"/>
                  </a:cubicBezTo>
                  <a:cubicBezTo>
                    <a:pt x="155" y="43"/>
                    <a:pt x="160" y="48"/>
                    <a:pt x="160" y="54"/>
                  </a:cubicBezTo>
                  <a:cubicBezTo>
                    <a:pt x="160" y="64"/>
                    <a:pt x="160" y="64"/>
                    <a:pt x="160" y="64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6" y="64"/>
                    <a:pt x="181" y="69"/>
                    <a:pt x="181" y="75"/>
                  </a:cubicBezTo>
                  <a:close/>
                  <a:moveTo>
                    <a:pt x="298" y="75"/>
                  </a:moveTo>
                  <a:cubicBezTo>
                    <a:pt x="298" y="81"/>
                    <a:pt x="294" y="86"/>
                    <a:pt x="288" y="86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8" y="294"/>
                    <a:pt x="283" y="299"/>
                    <a:pt x="277" y="299"/>
                  </a:cubicBezTo>
                  <a:cubicBezTo>
                    <a:pt x="21" y="299"/>
                    <a:pt x="21" y="299"/>
                    <a:pt x="21" y="299"/>
                  </a:cubicBezTo>
                  <a:cubicBezTo>
                    <a:pt x="15" y="299"/>
                    <a:pt x="10" y="294"/>
                    <a:pt x="10" y="288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1"/>
                    <a:pt x="0" y="75"/>
                  </a:cubicBezTo>
                  <a:cubicBezTo>
                    <a:pt x="0" y="69"/>
                    <a:pt x="4" y="64"/>
                    <a:pt x="10" y="64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5"/>
                    <a:pt x="79" y="0"/>
                    <a:pt x="85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19" y="0"/>
                    <a:pt x="224" y="5"/>
                    <a:pt x="224" y="11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94" y="64"/>
                    <a:pt x="298" y="69"/>
                    <a:pt x="298" y="75"/>
                  </a:cubicBezTo>
                  <a:close/>
                  <a:moveTo>
                    <a:pt x="160" y="214"/>
                  </a:moveTo>
                  <a:cubicBezTo>
                    <a:pt x="160" y="278"/>
                    <a:pt x="160" y="278"/>
                    <a:pt x="160" y="278"/>
                  </a:cubicBezTo>
                  <a:cubicBezTo>
                    <a:pt x="181" y="278"/>
                    <a:pt x="181" y="278"/>
                    <a:pt x="181" y="278"/>
                  </a:cubicBezTo>
                  <a:cubicBezTo>
                    <a:pt x="181" y="214"/>
                    <a:pt x="181" y="214"/>
                    <a:pt x="181" y="214"/>
                  </a:cubicBezTo>
                  <a:lnTo>
                    <a:pt x="160" y="214"/>
                  </a:lnTo>
                  <a:close/>
                  <a:moveTo>
                    <a:pt x="138" y="214"/>
                  </a:moveTo>
                  <a:cubicBezTo>
                    <a:pt x="117" y="214"/>
                    <a:pt x="117" y="214"/>
                    <a:pt x="117" y="214"/>
                  </a:cubicBezTo>
                  <a:cubicBezTo>
                    <a:pt x="117" y="278"/>
                    <a:pt x="117" y="278"/>
                    <a:pt x="117" y="278"/>
                  </a:cubicBezTo>
                  <a:cubicBezTo>
                    <a:pt x="138" y="278"/>
                    <a:pt x="138" y="278"/>
                    <a:pt x="138" y="278"/>
                  </a:cubicBezTo>
                  <a:lnTo>
                    <a:pt x="138" y="214"/>
                  </a:lnTo>
                  <a:close/>
                  <a:moveTo>
                    <a:pt x="266" y="86"/>
                  </a:moveTo>
                  <a:cubicBezTo>
                    <a:pt x="213" y="86"/>
                    <a:pt x="213" y="86"/>
                    <a:pt x="213" y="86"/>
                  </a:cubicBezTo>
                  <a:cubicBezTo>
                    <a:pt x="207" y="86"/>
                    <a:pt x="202" y="81"/>
                    <a:pt x="202" y="75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75"/>
                    <a:pt x="96" y="75"/>
                    <a:pt x="96" y="75"/>
                  </a:cubicBezTo>
                  <a:cubicBezTo>
                    <a:pt x="96" y="81"/>
                    <a:pt x="91" y="86"/>
                    <a:pt x="85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278"/>
                    <a:pt x="3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197"/>
                    <a:pt x="100" y="192"/>
                    <a:pt x="106" y="192"/>
                  </a:cubicBezTo>
                  <a:cubicBezTo>
                    <a:pt x="192" y="192"/>
                    <a:pt x="192" y="192"/>
                    <a:pt x="192" y="192"/>
                  </a:cubicBezTo>
                  <a:cubicBezTo>
                    <a:pt x="198" y="192"/>
                    <a:pt x="202" y="197"/>
                    <a:pt x="202" y="203"/>
                  </a:cubicBezTo>
                  <a:cubicBezTo>
                    <a:pt x="202" y="278"/>
                    <a:pt x="202" y="278"/>
                    <a:pt x="202" y="278"/>
                  </a:cubicBezTo>
                  <a:cubicBezTo>
                    <a:pt x="266" y="278"/>
                    <a:pt x="266" y="278"/>
                    <a:pt x="266" y="278"/>
                  </a:cubicBezTo>
                  <a:lnTo>
                    <a:pt x="266" y="86"/>
                  </a:lnTo>
                  <a:close/>
                  <a:moveTo>
                    <a:pt x="64" y="107"/>
                  </a:moveTo>
                  <a:cubicBezTo>
                    <a:pt x="58" y="107"/>
                    <a:pt x="53" y="112"/>
                    <a:pt x="53" y="118"/>
                  </a:cubicBezTo>
                  <a:cubicBezTo>
                    <a:pt x="53" y="124"/>
                    <a:pt x="58" y="128"/>
                    <a:pt x="64" y="128"/>
                  </a:cubicBezTo>
                  <a:cubicBezTo>
                    <a:pt x="70" y="128"/>
                    <a:pt x="74" y="124"/>
                    <a:pt x="74" y="118"/>
                  </a:cubicBezTo>
                  <a:cubicBezTo>
                    <a:pt x="74" y="112"/>
                    <a:pt x="70" y="107"/>
                    <a:pt x="64" y="107"/>
                  </a:cubicBezTo>
                  <a:close/>
                  <a:moveTo>
                    <a:pt x="64" y="150"/>
                  </a:moveTo>
                  <a:cubicBezTo>
                    <a:pt x="58" y="150"/>
                    <a:pt x="53" y="154"/>
                    <a:pt x="53" y="160"/>
                  </a:cubicBezTo>
                  <a:cubicBezTo>
                    <a:pt x="53" y="166"/>
                    <a:pt x="58" y="171"/>
                    <a:pt x="64" y="171"/>
                  </a:cubicBezTo>
                  <a:cubicBezTo>
                    <a:pt x="70" y="171"/>
                    <a:pt x="74" y="166"/>
                    <a:pt x="74" y="160"/>
                  </a:cubicBezTo>
                  <a:cubicBezTo>
                    <a:pt x="74" y="154"/>
                    <a:pt x="70" y="150"/>
                    <a:pt x="64" y="150"/>
                  </a:cubicBezTo>
                  <a:close/>
                  <a:moveTo>
                    <a:pt x="106" y="150"/>
                  </a:moveTo>
                  <a:cubicBezTo>
                    <a:pt x="100" y="150"/>
                    <a:pt x="96" y="154"/>
                    <a:pt x="96" y="160"/>
                  </a:cubicBezTo>
                  <a:cubicBezTo>
                    <a:pt x="96" y="166"/>
                    <a:pt x="100" y="171"/>
                    <a:pt x="106" y="171"/>
                  </a:cubicBezTo>
                  <a:cubicBezTo>
                    <a:pt x="112" y="171"/>
                    <a:pt x="117" y="166"/>
                    <a:pt x="117" y="160"/>
                  </a:cubicBezTo>
                  <a:cubicBezTo>
                    <a:pt x="117" y="154"/>
                    <a:pt x="112" y="150"/>
                    <a:pt x="106" y="150"/>
                  </a:cubicBezTo>
                  <a:close/>
                  <a:moveTo>
                    <a:pt x="106" y="107"/>
                  </a:moveTo>
                  <a:cubicBezTo>
                    <a:pt x="100" y="107"/>
                    <a:pt x="96" y="112"/>
                    <a:pt x="96" y="118"/>
                  </a:cubicBezTo>
                  <a:cubicBezTo>
                    <a:pt x="96" y="124"/>
                    <a:pt x="100" y="128"/>
                    <a:pt x="106" y="128"/>
                  </a:cubicBezTo>
                  <a:cubicBezTo>
                    <a:pt x="112" y="128"/>
                    <a:pt x="117" y="124"/>
                    <a:pt x="117" y="118"/>
                  </a:cubicBezTo>
                  <a:cubicBezTo>
                    <a:pt x="117" y="112"/>
                    <a:pt x="112" y="107"/>
                    <a:pt x="106" y="107"/>
                  </a:cubicBezTo>
                  <a:close/>
                  <a:moveTo>
                    <a:pt x="149" y="150"/>
                  </a:moveTo>
                  <a:cubicBezTo>
                    <a:pt x="143" y="150"/>
                    <a:pt x="138" y="154"/>
                    <a:pt x="138" y="160"/>
                  </a:cubicBezTo>
                  <a:cubicBezTo>
                    <a:pt x="138" y="166"/>
                    <a:pt x="143" y="171"/>
                    <a:pt x="149" y="171"/>
                  </a:cubicBezTo>
                  <a:cubicBezTo>
                    <a:pt x="155" y="171"/>
                    <a:pt x="160" y="166"/>
                    <a:pt x="160" y="160"/>
                  </a:cubicBezTo>
                  <a:cubicBezTo>
                    <a:pt x="160" y="154"/>
                    <a:pt x="155" y="150"/>
                    <a:pt x="149" y="150"/>
                  </a:cubicBezTo>
                  <a:close/>
                  <a:moveTo>
                    <a:pt x="192" y="150"/>
                  </a:moveTo>
                  <a:cubicBezTo>
                    <a:pt x="186" y="150"/>
                    <a:pt x="181" y="154"/>
                    <a:pt x="181" y="160"/>
                  </a:cubicBezTo>
                  <a:cubicBezTo>
                    <a:pt x="181" y="166"/>
                    <a:pt x="186" y="171"/>
                    <a:pt x="192" y="171"/>
                  </a:cubicBezTo>
                  <a:cubicBezTo>
                    <a:pt x="198" y="171"/>
                    <a:pt x="202" y="166"/>
                    <a:pt x="202" y="160"/>
                  </a:cubicBezTo>
                  <a:cubicBezTo>
                    <a:pt x="202" y="154"/>
                    <a:pt x="198" y="150"/>
                    <a:pt x="192" y="150"/>
                  </a:cubicBezTo>
                  <a:close/>
                  <a:moveTo>
                    <a:pt x="192" y="107"/>
                  </a:moveTo>
                  <a:cubicBezTo>
                    <a:pt x="186" y="107"/>
                    <a:pt x="181" y="112"/>
                    <a:pt x="181" y="118"/>
                  </a:cubicBezTo>
                  <a:cubicBezTo>
                    <a:pt x="181" y="124"/>
                    <a:pt x="186" y="128"/>
                    <a:pt x="192" y="128"/>
                  </a:cubicBezTo>
                  <a:cubicBezTo>
                    <a:pt x="198" y="128"/>
                    <a:pt x="202" y="124"/>
                    <a:pt x="202" y="118"/>
                  </a:cubicBezTo>
                  <a:cubicBezTo>
                    <a:pt x="202" y="112"/>
                    <a:pt x="198" y="107"/>
                    <a:pt x="192" y="107"/>
                  </a:cubicBezTo>
                  <a:close/>
                  <a:moveTo>
                    <a:pt x="64" y="192"/>
                  </a:moveTo>
                  <a:cubicBezTo>
                    <a:pt x="58" y="192"/>
                    <a:pt x="53" y="197"/>
                    <a:pt x="53" y="203"/>
                  </a:cubicBezTo>
                  <a:cubicBezTo>
                    <a:pt x="53" y="209"/>
                    <a:pt x="58" y="214"/>
                    <a:pt x="64" y="214"/>
                  </a:cubicBezTo>
                  <a:cubicBezTo>
                    <a:pt x="70" y="214"/>
                    <a:pt x="74" y="209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lose/>
                  <a:moveTo>
                    <a:pt x="64" y="235"/>
                  </a:moveTo>
                  <a:cubicBezTo>
                    <a:pt x="58" y="235"/>
                    <a:pt x="53" y="240"/>
                    <a:pt x="53" y="246"/>
                  </a:cubicBezTo>
                  <a:cubicBezTo>
                    <a:pt x="53" y="252"/>
                    <a:pt x="58" y="256"/>
                    <a:pt x="64" y="256"/>
                  </a:cubicBezTo>
                  <a:cubicBezTo>
                    <a:pt x="70" y="256"/>
                    <a:pt x="74" y="252"/>
                    <a:pt x="74" y="246"/>
                  </a:cubicBezTo>
                  <a:cubicBezTo>
                    <a:pt x="74" y="240"/>
                    <a:pt x="70" y="235"/>
                    <a:pt x="64" y="235"/>
                  </a:cubicBezTo>
                  <a:close/>
                  <a:moveTo>
                    <a:pt x="234" y="128"/>
                  </a:moveTo>
                  <a:cubicBezTo>
                    <a:pt x="240" y="128"/>
                    <a:pt x="245" y="124"/>
                    <a:pt x="245" y="118"/>
                  </a:cubicBezTo>
                  <a:cubicBezTo>
                    <a:pt x="245" y="112"/>
                    <a:pt x="240" y="107"/>
                    <a:pt x="234" y="107"/>
                  </a:cubicBezTo>
                  <a:cubicBezTo>
                    <a:pt x="228" y="107"/>
                    <a:pt x="224" y="112"/>
                    <a:pt x="224" y="118"/>
                  </a:cubicBezTo>
                  <a:cubicBezTo>
                    <a:pt x="224" y="124"/>
                    <a:pt x="228" y="128"/>
                    <a:pt x="234" y="128"/>
                  </a:cubicBezTo>
                  <a:close/>
                  <a:moveTo>
                    <a:pt x="234" y="171"/>
                  </a:moveTo>
                  <a:cubicBezTo>
                    <a:pt x="240" y="171"/>
                    <a:pt x="245" y="166"/>
                    <a:pt x="245" y="160"/>
                  </a:cubicBezTo>
                  <a:cubicBezTo>
                    <a:pt x="245" y="154"/>
                    <a:pt x="240" y="150"/>
                    <a:pt x="234" y="150"/>
                  </a:cubicBezTo>
                  <a:cubicBezTo>
                    <a:pt x="228" y="150"/>
                    <a:pt x="224" y="154"/>
                    <a:pt x="224" y="160"/>
                  </a:cubicBezTo>
                  <a:cubicBezTo>
                    <a:pt x="224" y="166"/>
                    <a:pt x="228" y="171"/>
                    <a:pt x="234" y="171"/>
                  </a:cubicBezTo>
                  <a:close/>
                  <a:moveTo>
                    <a:pt x="234" y="214"/>
                  </a:move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2"/>
                    <a:pt x="234" y="192"/>
                  </a:cubicBezTo>
                  <a:cubicBezTo>
                    <a:pt x="228" y="192"/>
                    <a:pt x="224" y="197"/>
                    <a:pt x="224" y="203"/>
                  </a:cubicBezTo>
                  <a:cubicBezTo>
                    <a:pt x="224" y="209"/>
                    <a:pt x="228" y="214"/>
                    <a:pt x="234" y="214"/>
                  </a:cubicBezTo>
                  <a:close/>
                  <a:moveTo>
                    <a:pt x="234" y="256"/>
                  </a:moveTo>
                  <a:cubicBezTo>
                    <a:pt x="240" y="256"/>
                    <a:pt x="245" y="252"/>
                    <a:pt x="245" y="246"/>
                  </a:cubicBezTo>
                  <a:cubicBezTo>
                    <a:pt x="245" y="240"/>
                    <a:pt x="240" y="235"/>
                    <a:pt x="234" y="235"/>
                  </a:cubicBezTo>
                  <a:cubicBezTo>
                    <a:pt x="228" y="235"/>
                    <a:pt x="224" y="240"/>
                    <a:pt x="224" y="246"/>
                  </a:cubicBezTo>
                  <a:cubicBezTo>
                    <a:pt x="224" y="252"/>
                    <a:pt x="228" y="256"/>
                    <a:pt x="234" y="256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1A6DD46-5DFD-48DD-BF24-B5E02852224F}"/>
              </a:ext>
            </a:extLst>
          </p:cNvPr>
          <p:cNvCxnSpPr>
            <a:cxnSpLocks/>
          </p:cNvCxnSpPr>
          <p:nvPr/>
        </p:nvCxnSpPr>
        <p:spPr>
          <a:xfrm>
            <a:off x="5764587" y="4299762"/>
            <a:ext cx="122100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Smart Phone">
            <a:extLst>
              <a:ext uri="{FF2B5EF4-FFF2-40B4-BE49-F238E27FC236}">
                <a16:creationId xmlns:a16="http://schemas.microsoft.com/office/drawing/2014/main" id="{F789D3A3-727D-4922-A763-49BA0E051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5062" y="3932831"/>
            <a:ext cx="798067" cy="79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116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CIB Draft Slides 29 April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ICIB Draft Slides 29 April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Conte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LongProperties xmlns="http://schemas.microsoft.com/office/2006/metadata/longProperties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asic Document" ma:contentTypeID="0x010100C8D0D8E0190B234A9461DA2A28FEAEDC00A325420569D3FD41A4FC1D69DCFB4DCE" ma:contentTypeVersion="57" ma:contentTypeDescription="" ma:contentTypeScope="" ma:versionID="f3b88eb70ed392f67b636758cf2e6196">
  <xsd:schema xmlns:xsd="http://www.w3.org/2001/XMLSchema" xmlns:xs="http://www.w3.org/2001/XMLSchema" xmlns:p="http://schemas.microsoft.com/office/2006/metadata/properties" xmlns:ns2="http://schemas.microsoft.com/sharepoint/v3/fields" xmlns:ns3="e7f465d6-1132-4325-8be5-f2952c7a911e" xmlns:ns4="http://schemas.microsoft.com/sharepoint/v4" targetNamespace="http://schemas.microsoft.com/office/2006/metadata/properties" ma:root="true" ma:fieldsID="debaed8ba1557be0053e8182b99dfb81" ns2:_="" ns3:_="" ns4:_="">
    <xsd:import namespace="http://schemas.microsoft.com/sharepoint/v3/fields"/>
    <xsd:import namespace="e7f465d6-1132-4325-8be5-f2952c7a911e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3:Product" minOccurs="0"/>
                <xsd:element ref="ns3:Category_" minOccurs="0"/>
                <xsd:element ref="ns2:_Status" minOccurs="0"/>
                <xsd:element ref="ns3:Package" minOccurs="0"/>
                <xsd:element ref="ns3:_dlc_DocId" minOccurs="0"/>
                <xsd:element ref="ns3:_dlc_DocIdUrl" minOccurs="0"/>
                <xsd:element ref="ns3:_dlc_DocIdPersistId" minOccurs="0"/>
                <xsd:element ref="ns3:TaxKeywordTaxHTField" minOccurs="0"/>
                <xsd:element ref="ns3:TaxCatchAll" minOccurs="0"/>
                <xsd:element ref="ns3:TaxCatchAllLabel" minOccurs="0"/>
                <xsd:element ref="ns3:jaf4cee1310e4798ade64fc913e14712" minOccurs="0"/>
                <xsd:element ref="ns3:j59534b4925e4c93a41792a072526ef9" minOccurs="0"/>
                <xsd:element ref="ns3:Document_x0020_Type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scription="Please select from choices given unless your team has agreed to common 'Fill-In' choices." ma:format="Dropdown" ma:internalName="_Status">
      <xsd:simpleType>
        <xsd:union memberTypes="dms:Text">
          <xsd:simpleType>
            <xsd:restriction base="dms:Choice">
              <xsd:enumeration value="Working"/>
              <xsd:enumeration value="Draft"/>
              <xsd:enumeration value="Draft Final"/>
              <xsd:enumeration value="Dept Review"/>
              <xsd:enumeration value="Final"/>
              <xsd:enumeration value="Final Signed"/>
              <xsd:enumeration value="Archiv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f465d6-1132-4325-8be5-f2952c7a911e" elementFormDefault="qualified">
    <xsd:import namespace="http://schemas.microsoft.com/office/2006/documentManagement/types"/>
    <xsd:import namespace="http://schemas.microsoft.com/office/infopath/2007/PartnerControls"/>
    <xsd:element name="Product" ma:index="4" nillable="true" ma:displayName="Product/Section" ma:default="Select Product/Section..." ma:description="Primarily used to identify origin of document that has been &quot;rolled up&quot;" ma:format="Dropdown" ma:internalName="Product">
      <xsd:simpleType>
        <xsd:restriction base="dms:Choice">
          <xsd:enumeration value="Select Product/Section..."/>
          <xsd:enumeration value="Information Assurance"/>
          <xsd:enumeration value="Testing Infrastructure"/>
        </xsd:restriction>
      </xsd:simpleType>
    </xsd:element>
    <xsd:element name="Category_" ma:index="6" nillable="true" ma:displayName="Category_" ma:format="Dropdown" ma:internalName="Category_">
      <xsd:simpleType>
        <xsd:restriction base="dms:Choice">
          <xsd:enumeration value="Communications Package"/>
          <xsd:enumeration value="Meeting Artifacts"/>
          <xsd:enumeration value="References"/>
          <xsd:enumeration value="Working Documents"/>
        </xsd:restriction>
      </xsd:simpleType>
    </xsd:element>
    <xsd:element name="Package" ma:index="9" nillable="true" ma:displayName="Package" ma:format="Dropdown" ma:hidden="true" ma:internalName="Package" ma:readOnly="false">
      <xsd:simpleType>
        <xsd:union memberTypes="dms:Text">
          <xsd:simpleType>
            <xsd:restriction base="dms:Choice">
              <xsd:enumeration value="NA"/>
            </xsd:restriction>
          </xsd:simpleType>
        </xsd:union>
      </xsd:simpleType>
    </xsd:element>
    <xsd:element name="_dlc_DocId" ma:index="10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9" nillable="true" ma:taxonomy="true" ma:internalName="TaxKeywordTaxHTField" ma:taxonomyFieldName="TaxKeyword" ma:displayName="Enterprise Keywords" ma:fieldId="{23f27201-bee3-471e-b2e7-b64fd8b7ca38}" ma:taxonomyMulti="true" ma:sspId="7ce00e25-bad1-422b-924d-df586e05bd4b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0" nillable="true" ma:displayName="Taxonomy Catch All Column" ma:description="" ma:hidden="true" ma:list="{4c38d6c3-25cd-478e-9bb1-76bc396072fb}" ma:internalName="TaxCatchAll" ma:showField="CatchAllData" ma:web="e7f465d6-1132-4325-8be5-f2952c7a91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1" nillable="true" ma:displayName="Taxonomy Catch All Column1" ma:description="" ma:hidden="true" ma:list="{4c38d6c3-25cd-478e-9bb1-76bc396072fb}" ma:internalName="TaxCatchAllLabel" ma:readOnly="true" ma:showField="CatchAllDataLabel" ma:web="e7f465d6-1132-4325-8be5-f2952c7a91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af4cee1310e4798ade64fc913e14712" ma:index="23" nillable="true" ma:taxonomy="true" ma:internalName="jaf4cee1310e4798ade64fc913e14712" ma:taxonomyFieldName="Doc_x0020_Type" ma:displayName="Doc Type" ma:default="" ma:fieldId="{3af4cee1-310e-4798-ade6-4fc913e14712}" ma:sspId="7ce00e25-bad1-422b-924d-df586e05bd4b" ma:termSetId="54f19a86-106a-4f60-886d-c87467f3574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59534b4925e4c93a41792a072526ef9" ma:index="25" nillable="true" ma:taxonomy="true" ma:internalName="j59534b4925e4c93a41792a072526ef9" ma:taxonomyFieldName="Organization" ma:displayName="Organization" ma:default="" ma:fieldId="{359534b4-925e-4c93-a417-92a072526ef9}" ma:sspId="7ce00e25-bad1-422b-924d-df586e05bd4b" ma:termSetId="dc6b430c-dec5-4977-b8a8-c7131aa9379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ocument_x0020_Type" ma:index="27" nillable="true" ma:displayName="Document Type" ma:description="Denotes the type/category/purpose of the document. Many library views group files based on this field." ma:format="Dropdown" ma:hidden="true" ma:internalName="Document_x0020_Type" ma:readOnly="false">
      <xsd:simpleType>
        <xsd:union memberTypes="dms:Text">
          <xsd:simpleType>
            <xsd:restriction base="dms:Choice">
              <xsd:enumeration value="Best Practice"/>
              <xsd:enumeration value="Communication"/>
              <xsd:enumeration value="Configuration Management"/>
              <xsd:enumeration value="Deliverable"/>
              <xsd:enumeration value="Frequently Asked Question"/>
              <xsd:enumeration value="Lessons Learned"/>
              <xsd:enumeration value="Lockdown"/>
              <xsd:enumeration value="Meeting Notes/Artifacts"/>
              <xsd:enumeration value="Planning"/>
              <xsd:enumeration value="Processes"/>
              <xsd:enumeration value="Project Management"/>
              <xsd:enumeration value="Reference"/>
              <xsd:enumeration value="Reporting"/>
              <xsd:enumeration value="Requirements"/>
              <xsd:enumeration value="Risks/Issues"/>
              <xsd:enumeration value="Schedule"/>
              <xsd:enumeration value="Templates"/>
              <xsd:enumeration value="Testing"/>
              <xsd:enumeration value="Training"/>
              <xsd:enumeration value="Use Case"/>
              <xsd:enumeration value="Workgroup Artifacts"/>
              <xsd:enumeration value="Other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2" ma:displayName="Author"/>
        <xsd:element ref="dcterms:created" minOccurs="0" maxOccurs="1"/>
        <xsd:element ref="dc:identifier" minOccurs="0" maxOccurs="1"/>
        <xsd:element name="contentType" minOccurs="0" maxOccurs="1" type="xsd:string" ma:index="17" ma:displayName="Content Type"/>
        <xsd:element ref="dc:title" minOccurs="0" maxOccurs="1" ma:index="1" ma:displayName="Title"/>
        <xsd:element ref="dc:subject" minOccurs="0" maxOccurs="1" ma:displayName="Subject"/>
        <xsd:element ref="dc:description" minOccurs="0" maxOccurs="1" ma:displayName="Comments"/>
        <xsd:element name="keywords" minOccurs="0" maxOccurs="1" type="xsd:string" ma:displayName="Keywords"/>
        <xsd:element ref="dc:language" minOccurs="0" maxOccurs="1"/>
        <xsd:element name="category" minOccurs="0" maxOccurs="1" type="xsd:string" ma:displayName="Category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7f465d6-1132-4325-8be5-f2952c7a911e">
      <Value>169</Value>
      <Value>511</Value>
    </TaxCatchAll>
    <TaxKeywordTaxHTField xmlns="e7f465d6-1132-4325-8be5-f2952c7a911e">
      <Terms xmlns="http://schemas.microsoft.com/office/infopath/2007/PartnerControls"/>
    </TaxKeywordTaxHTField>
    <j59534b4925e4c93a41792a072526ef9 xmlns="e7f465d6-1132-4325-8be5-f2952c7a911e">
      <Terms xmlns="http://schemas.microsoft.com/office/infopath/2007/PartnerControls">
        <TermInfo xmlns="http://schemas.microsoft.com/office/infopath/2007/PartnerControls">
          <TermName xmlns="http://schemas.microsoft.com/office/infopath/2007/PartnerControls">Technical Team</TermName>
          <TermId xmlns="http://schemas.microsoft.com/office/infopath/2007/PartnerControls">aba247a0-ed21-4eb6-bee3-a6ac7bafd3b0</TermId>
        </TermInfo>
      </Terms>
    </j59534b4925e4c93a41792a072526ef9>
    <_Status xmlns="http://schemas.microsoft.com/sharepoint/v3/fields" xsi:nil="true"/>
    <IconOverlay xmlns="http://schemas.microsoft.com/sharepoint/v4" xsi:nil="true"/>
    <Category_ xmlns="e7f465d6-1132-4325-8be5-f2952c7a911e">Meeting Artifacts</Category_>
    <Product xmlns="e7f465d6-1132-4325-8be5-f2952c7a911e" xsi:nil="true"/>
    <jaf4cee1310e4798ade64fc913e14712 xmlns="e7f465d6-1132-4325-8be5-f2952c7a911e">
      <Terms xmlns="http://schemas.microsoft.com/office/infopath/2007/PartnerControls">
        <TermInfo xmlns="http://schemas.microsoft.com/office/infopath/2007/PartnerControls">
          <TermName xmlns="http://schemas.microsoft.com/office/infopath/2007/PartnerControls">Briefings</TermName>
          <TermId xmlns="http://schemas.microsoft.com/office/infopath/2007/PartnerControls">6f017f24-691e-4734-983c-33cb8625e85e</TermId>
        </TermInfo>
      </Terms>
    </jaf4cee1310e4798ade64fc913e14712>
    <Package xmlns="e7f465d6-1132-4325-8be5-f2952c7a911e" xsi:nil="true"/>
    <_dlc_DocId xmlns="e7f465d6-1132-4325-8be5-f2952c7a911e">MA24ASH6SKF3-553-42</_dlc_DocId>
    <_dlc_DocIdUrl xmlns="e7f465d6-1132-4325-8be5-f2952c7a911e">
      <Url>https://intelshare.intelink.gov/sites/ipo/IPOHome/_layouts/15/DocIdRedir.aspx?ID=MA24ASH6SKF3-553-42</Url>
      <Description>MA24ASH6SKF3-553-42</Description>
    </_dlc_DocIdUrl>
    <Document_x0020_Type xmlns="e7f465d6-1132-4325-8be5-f2952c7a911e" xsi:nil="true"/>
  </documentManagement>
</p:properties>
</file>

<file path=customXml/itemProps1.xml><?xml version="1.0" encoding="utf-8"?>
<ds:datastoreItem xmlns:ds="http://schemas.openxmlformats.org/officeDocument/2006/customXml" ds:itemID="{824A82AD-E096-45D9-B00E-744019D44EAB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F9D60750-D6BE-431E-9289-A442284B75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7B1D54-7EA8-4AB2-8F49-2FFDF46AF5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e7f465d6-1132-4325-8be5-f2952c7a911e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7CC937C-6160-425F-9A8A-B8A64B17A3AF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6AD78803-8473-42DC-B992-AA3F578752D2}">
  <ds:schemaRefs>
    <ds:schemaRef ds:uri="http://schemas.microsoft.com/office/2006/metadata/properties"/>
    <ds:schemaRef ds:uri="http://schemas.microsoft.com/office/infopath/2007/PartnerControls"/>
    <ds:schemaRef ds:uri="e7f465d6-1132-4325-8be5-f2952c7a911e"/>
    <ds:schemaRef ds:uri="http://schemas.microsoft.com/sharepoint/v3/fields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16595</TotalTime>
  <Words>618</Words>
  <Application>Microsoft Macintosh PowerPoint</Application>
  <PresentationFormat>On-screen Show (4:3)</PresentationFormat>
  <Paragraphs>79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-apple-system</vt:lpstr>
      <vt:lpstr>Arial</vt:lpstr>
      <vt:lpstr>Arial Black</vt:lpstr>
      <vt:lpstr>Calibri</vt:lpstr>
      <vt:lpstr>Calibri Light</vt:lpstr>
      <vt:lpstr>Courier New</vt:lpstr>
      <vt:lpstr>Times New Roman</vt:lpstr>
      <vt:lpstr>Custom Design</vt:lpstr>
      <vt:lpstr>ICIB Draft Slides 29 April 2015</vt:lpstr>
      <vt:lpstr>Content</vt:lpstr>
      <vt:lpstr>1_ICIB Draft Slides 29 April 2015</vt:lpstr>
      <vt:lpstr>1_Content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Scenario 3: HIE Transformation</vt:lpstr>
      <vt:lpstr>Scenario 4: “Clinical Information Reconciliation and Incorporation (CIRI)”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C-CDA Affinity Group</dc:title>
  <dc:creator>Lori Hyzdu</dc:creator>
  <cp:keywords/>
  <cp:lastModifiedBy>Eric Haas</cp:lastModifiedBy>
  <cp:revision>617</cp:revision>
  <cp:lastPrinted>2015-10-06T15:37:49Z</cp:lastPrinted>
  <dcterms:created xsi:type="dcterms:W3CDTF">2015-04-29T16:14:58Z</dcterms:created>
  <dcterms:modified xsi:type="dcterms:W3CDTF">2026-02-26T17:22:20Z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0x010100C8D0D8E0190B234A9461DA2A28FEAEDC00A325420569D3FD41A4FC1D69DCFB4DCE</vt:lpwstr>
  </property>
  <property fmtid="{D5CDD505-2E9C-101B-9397-08002B2CF9AE}" pid="3" name="_dlc_DocIdItemGuid">
    <vt:lpwstr>6e620721-0da3-4965-9ad6-46bc10e8964e</vt:lpwstr>
  </property>
  <property fmtid="{D5CDD505-2E9C-101B-9397-08002B2CF9AE}" pid="4" name="TaxKeyword">
    <vt:lpwstr/>
  </property>
  <property fmtid="{D5CDD505-2E9C-101B-9397-08002B2CF9AE}" pid="5" name="Doc Type">
    <vt:lpwstr>169;#Briefings|6f017f24-691e-4734-983c-33cb8625e85e</vt:lpwstr>
  </property>
  <property fmtid="{D5CDD505-2E9C-101B-9397-08002B2CF9AE}" pid="6" name="Records_x0020_Management_x0020_Series">
    <vt:lpwstr/>
  </property>
  <property fmtid="{D5CDD505-2E9C-101B-9397-08002B2CF9AE}" pid="7" name="Organization">
    <vt:lpwstr>511;#Technical Team|aba247a0-ed21-4eb6-bee3-a6ac7bafd3b0</vt:lpwstr>
  </property>
  <property fmtid="{D5CDD505-2E9C-101B-9397-08002B2CF9AE}" pid="8" name="Project">
    <vt:lpwstr>IPO Business Operations</vt:lpwstr>
  </property>
  <property fmtid="{D5CDD505-2E9C-101B-9397-08002B2CF9AE}" pid="9" name="Category / Project">
    <vt:lpwstr>IPO</vt:lpwstr>
  </property>
  <property fmtid="{D5CDD505-2E9C-101B-9397-08002B2CF9AE}" pid="10" name="_dlc_DocId">
    <vt:lpwstr>MA24ASH6SKF3-453-1719</vt:lpwstr>
  </property>
  <property fmtid="{D5CDD505-2E9C-101B-9397-08002B2CF9AE}" pid="11" name="_dlc_DocIdUrl">
    <vt:lpwstr>https://intelshare.intelink.gov/sites/ipo/IPOHome/_layouts/15/DocIdRedir.aspx?ID=MA24ASH6SKF3-453-1719, MA24ASH6SKF3-453-1719</vt:lpwstr>
  </property>
  <property fmtid="{D5CDD505-2E9C-101B-9397-08002B2CF9AE}" pid="12" name="RM Status">
    <vt:lpwstr/>
  </property>
  <property fmtid="{D5CDD505-2E9C-101B-9397-08002B2CF9AE}" pid="13" name="URL">
    <vt:lpwstr>, </vt:lpwstr>
  </property>
  <property fmtid="{D5CDD505-2E9C-101B-9397-08002B2CF9AE}" pid="14" name="ID #">
    <vt:lpwstr/>
  </property>
  <property fmtid="{D5CDD505-2E9C-101B-9397-08002B2CF9AE}" pid="15" name="mb158b7ab5514029a1a80307056bbfc9">
    <vt:lpwstr/>
  </property>
  <property fmtid="{D5CDD505-2E9C-101B-9397-08002B2CF9AE}" pid="16" name="RM Processed">
    <vt:lpwstr/>
  </property>
  <property fmtid="{D5CDD505-2E9C-101B-9397-08002B2CF9AE}" pid="17" name="Roll up">
    <vt:lpwstr>0</vt:lpwstr>
  </property>
  <property fmtid="{D5CDD505-2E9C-101B-9397-08002B2CF9AE}" pid="18" name="ad2c35a0f49e4bd58fb674e996570462">
    <vt:lpwstr/>
  </property>
  <property fmtid="{D5CDD505-2E9C-101B-9397-08002B2CF9AE}" pid="19" name="Capabilities">
    <vt:lpwstr/>
  </property>
  <property fmtid="{D5CDD505-2E9C-101B-9397-08002B2CF9AE}" pid="20" name="Records Management Series">
    <vt:lpwstr/>
  </property>
</Properties>
</file>